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7" r:id="rId2"/>
    <p:sldId id="260" r:id="rId3"/>
    <p:sldId id="263" r:id="rId4"/>
    <p:sldId id="264" r:id="rId5"/>
    <p:sldId id="265"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93" d="100"/>
          <a:sy n="93" d="100"/>
        </p:scale>
        <p:origin x="62" y="1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10/14/2026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10/14/2026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10/14/2026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10/14/2026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10/14/2026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10/14/2026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10/14/2026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10/14/2026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10/14/2026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10/14/2026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10/14/2026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10/14/2026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5" name="Rectangle: Rounded Corners 4">
            <a:extLst>
              <a:ext uri="{FF2B5EF4-FFF2-40B4-BE49-F238E27FC236}">
                <a16:creationId xmlns:a16="http://schemas.microsoft.com/office/drawing/2014/main" id="{35B74CBA-92E3-D07F-6ACD-5B8B94B38FCA}"/>
              </a:ext>
            </a:extLst>
          </p:cNvPr>
          <p:cNvSpPr/>
          <p:nvPr/>
        </p:nvSpPr>
        <p:spPr>
          <a:xfrm>
            <a:off x="381000" y="1460500"/>
            <a:ext cx="5207000" cy="3302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BA0C2F"/>
                </a:solidFill>
                <a:latin typeface="Segoe UI" panose="020B0502040204020203" pitchFamily="34" charset="0"/>
              </a:rPr>
              <a:t>ĐỒ ÁN MÔN HỌC: DỮ LIỆU LỚN (BIG DATA - IT4931)</a:t>
            </a:r>
          </a:p>
        </p:txBody>
      </p:sp>
      <p:sp>
        <p:nvSpPr>
          <p:cNvPr id="6" name="TextBox 5">
            <a:extLst>
              <a:ext uri="{FF2B5EF4-FFF2-40B4-BE49-F238E27FC236}">
                <a16:creationId xmlns:a16="http://schemas.microsoft.com/office/drawing/2014/main" id="{22F8A589-D2B8-EB1B-2F08-4C6FEF3C1EAB}"/>
              </a:ext>
            </a:extLst>
          </p:cNvPr>
          <p:cNvSpPr txBox="1"/>
          <p:nvPr/>
        </p:nvSpPr>
        <p:spPr>
          <a:xfrm>
            <a:off x="381000" y="1841500"/>
            <a:ext cx="7112000" cy="605294"/>
          </a:xfrm>
          <a:prstGeom prst="rect">
            <a:avLst/>
          </a:prstGeom>
          <a:noFill/>
        </p:spPr>
        <p:txBody>
          <a:bodyPr vert="horz" wrap="square" lIns="25400" tIns="25400" rIns="25400" bIns="25400" rtlCol="0">
            <a:spAutoFit/>
          </a:bodyPr>
          <a:lstStyle/>
          <a:p>
            <a:r>
              <a:rPr lang="vi-VN" sz="3600" b="1" dirty="0">
                <a:solidFill>
                  <a:srgbClr val="BA0C2F"/>
                </a:solidFill>
                <a:latin typeface="Segoe UI" panose="020B0502040204020203" pitchFamily="34" charset="0"/>
              </a:rPr>
              <a:t>SENTINEL</a:t>
            </a:r>
            <a:r>
              <a:rPr lang="en-US" sz="3600" b="1" dirty="0">
                <a:solidFill>
                  <a:srgbClr val="BA0C2F"/>
                </a:solidFill>
                <a:latin typeface="Segoe UI" panose="020B0502040204020203" pitchFamily="34" charset="0"/>
              </a:rPr>
              <a:t> </a:t>
            </a:r>
            <a:r>
              <a:rPr lang="vi-VN" sz="3600" b="1" dirty="0">
                <a:solidFill>
                  <a:srgbClr val="BA0C2F"/>
                </a:solidFill>
                <a:latin typeface="Segoe UI" panose="020B0502040204020203" pitchFamily="34" charset="0"/>
              </a:rPr>
              <a:t>AI</a:t>
            </a:r>
          </a:p>
        </p:txBody>
      </p:sp>
      <p:sp>
        <p:nvSpPr>
          <p:cNvPr id="7" name="TextBox 6">
            <a:extLst>
              <a:ext uri="{FF2B5EF4-FFF2-40B4-BE49-F238E27FC236}">
                <a16:creationId xmlns:a16="http://schemas.microsoft.com/office/drawing/2014/main" id="{E6BD8F81-2774-3E69-C722-5B9BE47B5DA8}"/>
              </a:ext>
            </a:extLst>
          </p:cNvPr>
          <p:cNvSpPr txBox="1"/>
          <p:nvPr/>
        </p:nvSpPr>
        <p:spPr>
          <a:xfrm>
            <a:off x="381000" y="2413000"/>
            <a:ext cx="7112000" cy="259045"/>
          </a:xfrm>
          <a:prstGeom prst="rect">
            <a:avLst/>
          </a:prstGeom>
          <a:noFill/>
        </p:spPr>
        <p:txBody>
          <a:bodyPr vert="horz" wrap="square" lIns="25400" tIns="25400" rIns="25400" bIns="25400" rtlCol="0">
            <a:spAutoFit/>
          </a:bodyPr>
          <a:lstStyle/>
          <a:p>
            <a:r>
              <a:rPr lang="vi-VN" sz="1350" b="1">
                <a:solidFill>
                  <a:srgbClr val="D97706"/>
                </a:solidFill>
                <a:latin typeface="Segoe UI" panose="020B0502040204020203" pitchFamily="34" charset="0"/>
              </a:rPr>
              <a:t>Big Data - Real-time - Intelligence</a:t>
            </a:r>
          </a:p>
        </p:txBody>
      </p:sp>
      <p:sp>
        <p:nvSpPr>
          <p:cNvPr id="8" name="TextBox 7">
            <a:extLst>
              <a:ext uri="{FF2B5EF4-FFF2-40B4-BE49-F238E27FC236}">
                <a16:creationId xmlns:a16="http://schemas.microsoft.com/office/drawing/2014/main" id="{BAF9E28C-9692-88E7-2436-2050BF99F847}"/>
              </a:ext>
            </a:extLst>
          </p:cNvPr>
          <p:cNvSpPr txBox="1"/>
          <p:nvPr/>
        </p:nvSpPr>
        <p:spPr>
          <a:xfrm>
            <a:off x="285750" y="2763475"/>
            <a:ext cx="7112000" cy="528350"/>
          </a:xfrm>
          <a:prstGeom prst="rect">
            <a:avLst/>
          </a:prstGeom>
          <a:noFill/>
        </p:spPr>
        <p:txBody>
          <a:bodyPr vert="horz" wrap="square" lIns="25400" tIns="25400" rIns="25400" bIns="25400" rtlCol="0">
            <a:spAutoFit/>
          </a:bodyPr>
          <a:lstStyle/>
          <a:p>
            <a:r>
              <a:rPr lang="vi-VN" sz="1550" b="1">
                <a:solidFill>
                  <a:srgbClr val="1E293B"/>
                </a:solidFill>
                <a:latin typeface="Segoe UI" panose="020B0502040204020203" pitchFamily="34" charset="0"/>
              </a:rPr>
              <a:t>HỆ THỐNG THU THẬP, XỬ LÝ DỮ LIỆU LỚN ĐA NGUỒN VÀ PHÁT HIỆN BẤT THƯỜNG THƯƠNG MẠI ĐIỆN TỬ THEO THỜI GIAN THỰC</a:t>
            </a:r>
          </a:p>
        </p:txBody>
      </p:sp>
      <p:sp>
        <p:nvSpPr>
          <p:cNvPr id="22" name="Rectangle: Rounded Corners 21">
            <a:extLst>
              <a:ext uri="{FF2B5EF4-FFF2-40B4-BE49-F238E27FC236}">
                <a16:creationId xmlns:a16="http://schemas.microsoft.com/office/drawing/2014/main" id="{ADE48D1A-FA8F-3E8D-EF1D-3C91664B83A9}"/>
              </a:ext>
            </a:extLst>
          </p:cNvPr>
          <p:cNvSpPr/>
          <p:nvPr/>
        </p:nvSpPr>
        <p:spPr>
          <a:xfrm>
            <a:off x="7493000" y="1460500"/>
            <a:ext cx="4318000" cy="4635500"/>
          </a:xfrm>
          <a:prstGeom prst="roundRect">
            <a:avLst/>
          </a:prstGeom>
          <a:solidFill>
            <a:srgbClr val="FFFFFF"/>
          </a:solidFill>
          <a:ln w="1905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97B30B76-6365-0880-50EA-B42D889F88E4}"/>
              </a:ext>
            </a:extLst>
          </p:cNvPr>
          <p:cNvSpPr/>
          <p:nvPr/>
        </p:nvSpPr>
        <p:spPr>
          <a:xfrm>
            <a:off x="7493000" y="1460500"/>
            <a:ext cx="4318000" cy="457200"/>
          </a:xfrm>
          <a:prstGeom prst="round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4" name="TextBox 23">
            <a:extLst>
              <a:ext uri="{FF2B5EF4-FFF2-40B4-BE49-F238E27FC236}">
                <a16:creationId xmlns:a16="http://schemas.microsoft.com/office/drawing/2014/main" id="{4AD6DD8F-BB82-5EC2-156D-81E079763817}"/>
              </a:ext>
            </a:extLst>
          </p:cNvPr>
          <p:cNvSpPr txBox="1"/>
          <p:nvPr/>
        </p:nvSpPr>
        <p:spPr>
          <a:xfrm>
            <a:off x="7620000" y="1562100"/>
            <a:ext cx="4064000" cy="228268"/>
          </a:xfrm>
          <a:prstGeom prst="rect">
            <a:avLst/>
          </a:prstGeom>
          <a:noFill/>
        </p:spPr>
        <p:txBody>
          <a:bodyPr vert="horz" wrap="square" lIns="25400" tIns="25400" rIns="25400" bIns="25400" rtlCol="0">
            <a:spAutoFit/>
          </a:bodyPr>
          <a:lstStyle/>
          <a:p>
            <a:pPr algn="ctr"/>
            <a:r>
              <a:rPr lang="nn-NO" sz="1150" b="1">
                <a:solidFill>
                  <a:srgbClr val="FFFFFF"/>
                </a:solidFill>
                <a:latin typeface="Segoe UI" panose="020B0502040204020203" pitchFamily="34" charset="0"/>
              </a:rPr>
              <a:t>TỔNG QUAN HỆ THỐNG SENTINELAI</a:t>
            </a:r>
            <a:endParaRPr lang="vi-VN" sz="1150" b="1">
              <a:solidFill>
                <a:srgbClr val="FFFFFF"/>
              </a:solidFill>
              <a:latin typeface="Segoe UI" panose="020B0502040204020203" pitchFamily="34" charset="0"/>
            </a:endParaRPr>
          </a:p>
        </p:txBody>
      </p:sp>
      <p:sp>
        <p:nvSpPr>
          <p:cNvPr id="25" name="TextBox 24">
            <a:extLst>
              <a:ext uri="{FF2B5EF4-FFF2-40B4-BE49-F238E27FC236}">
                <a16:creationId xmlns:a16="http://schemas.microsoft.com/office/drawing/2014/main" id="{A5DA838A-E244-98F9-970E-6EF0CF48AFA7}"/>
              </a:ext>
            </a:extLst>
          </p:cNvPr>
          <p:cNvSpPr txBox="1"/>
          <p:nvPr/>
        </p:nvSpPr>
        <p:spPr>
          <a:xfrm>
            <a:off x="7645400" y="2032000"/>
            <a:ext cx="4013200" cy="1861022"/>
          </a:xfrm>
          <a:prstGeom prst="rect">
            <a:avLst/>
          </a:prstGeom>
          <a:noFill/>
        </p:spPr>
        <p:txBody>
          <a:bodyPr vert="horz" wrap="square" lIns="25400" tIns="25400" rIns="25400" bIns="25400" rtlCol="0">
            <a:spAutoFit/>
          </a:bodyPr>
          <a:lstStyle/>
          <a:p>
            <a:r>
              <a:rPr lang="vi-VN" sz="980" dirty="0">
                <a:solidFill>
                  <a:srgbClr val="1E293B"/>
                </a:solidFill>
                <a:latin typeface="Segoe UI" panose="020B0502040204020203" pitchFamily="34" charset="0"/>
              </a:rPr>
              <a:t>🎯 BÀI TOÁN GIẢI QUYẾT:
Phát hiện gian lận giá, bão review seeding, review bombing và sụt giảm chất lượng đột ngột trên sàn TMĐT.
⚙️ NỀN TẢNG CÔNG NGHỆ CHÍNH:
• Ingestion: API Tiki, Web Crawler, Simulation Replay
• Streaming: Apache Kafka 3.7 (KRaft Mode)
• Lakehouse: MinIO S3 Medallion (Bronze/Silver/Gold)
• Compute: Apache Spark 3.5 Structured Streaming
• Serving: PostgreSQL 16 Data Warehouse + Elasticsearch
• Dashboard: Streamlit BI 7 trang KPI &amp; Cảnh báo
• Ops &amp; Testing: Airflow, Prometheus, Grafana, 65+ tests</a:t>
            </a: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a:lstStyle/>
          <a:p>
            <a:r>
              <a:rPr lang="en-US" sz="2000">
                <a:solidFill>
                  <a:srgbClr val="FFFFFF"/>
                </a:solidFill>
                <a:latin typeface="Segoe UI" panose="020B0502040204020203" pitchFamily="34" charset="0"/>
              </a:rPr>
              <a:t>2. ĐẶT VẤN ĐỀ &amp; BÀI TOÁN CẦN GIẢI QUYẾT</a:t>
            </a:r>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r>
              <a:rPr lang="en-US">
                <a:solidFill>
                  <a:srgbClr val="BA0C2F"/>
                </a:solidFill>
                <a:latin typeface="Segoe UI" panose="020B0502040204020203" pitchFamily="34" charset="0"/>
              </a:rPr>
              <a:t>2</a:t>
            </a:r>
            <a:endParaRPr lang="en-US" dirty="0">
              <a:solidFill>
                <a:srgbClr val="BA0C2F"/>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8D62AA17-29ED-A113-37E7-8BD31FEC5AF3}"/>
              </a:ext>
            </a:extLst>
          </p:cNvPr>
          <p:cNvSpPr/>
          <p:nvPr/>
        </p:nvSpPr>
        <p:spPr>
          <a:xfrm>
            <a:off x="381000" y="736600"/>
            <a:ext cx="5524500" cy="5634892"/>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ectangle 5">
            <a:extLst>
              <a:ext uri="{FF2B5EF4-FFF2-40B4-BE49-F238E27FC236}">
                <a16:creationId xmlns:a16="http://schemas.microsoft.com/office/drawing/2014/main" id="{F342588A-83AF-3967-1BF8-4A2F8D30A320}"/>
              </a:ext>
            </a:extLst>
          </p:cNvPr>
          <p:cNvSpPr/>
          <p:nvPr/>
        </p:nvSpPr>
        <p:spPr>
          <a:xfrm>
            <a:off x="381000" y="736600"/>
            <a:ext cx="5524500" cy="406400"/>
          </a:xfrm>
          <a:prstGeom prst="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TextBox 6">
            <a:extLst>
              <a:ext uri="{FF2B5EF4-FFF2-40B4-BE49-F238E27FC236}">
                <a16:creationId xmlns:a16="http://schemas.microsoft.com/office/drawing/2014/main" id="{1194C407-65FF-0DE9-310A-2EE2B728198B}"/>
              </a:ext>
            </a:extLst>
          </p:cNvPr>
          <p:cNvSpPr txBox="1"/>
          <p:nvPr/>
        </p:nvSpPr>
        <p:spPr>
          <a:xfrm>
            <a:off x="508000" y="812800"/>
            <a:ext cx="5270500" cy="228268"/>
          </a:xfrm>
          <a:prstGeom prst="rect">
            <a:avLst/>
          </a:prstGeom>
          <a:noFill/>
        </p:spPr>
        <p:txBody>
          <a:bodyPr vert="horz" wrap="square" lIns="25400" tIns="25400" rIns="25400" bIns="25400" rtlCol="0">
            <a:spAutoFit/>
          </a:bodyPr>
          <a:lstStyle/>
          <a:p>
            <a:pPr algn="ctr"/>
            <a:r>
              <a:rPr lang="vi-VN" sz="1150" b="1">
                <a:solidFill>
                  <a:srgbClr val="FFFFFF"/>
                </a:solidFill>
                <a:latin typeface="Segoe UI" panose="020B0502040204020203" pitchFamily="34" charset="0"/>
              </a:rPr>
              <a:t>2.1. VẤN ĐỀ THỰC TIỄN TRÊN THỊ TRƯỜNG TMĐT</a:t>
            </a:r>
          </a:p>
        </p:txBody>
      </p:sp>
      <p:sp>
        <p:nvSpPr>
          <p:cNvPr id="8" name="Rectangle: Rounded Corners 7">
            <a:extLst>
              <a:ext uri="{FF2B5EF4-FFF2-40B4-BE49-F238E27FC236}">
                <a16:creationId xmlns:a16="http://schemas.microsoft.com/office/drawing/2014/main" id="{DDE7BC41-6E16-5A4E-BCA4-A5029171D43B}"/>
              </a:ext>
            </a:extLst>
          </p:cNvPr>
          <p:cNvSpPr/>
          <p:nvPr/>
        </p:nvSpPr>
        <p:spPr>
          <a:xfrm>
            <a:off x="508000" y="1244600"/>
            <a:ext cx="5270500" cy="1206500"/>
          </a:xfrm>
          <a:prstGeom prst="roundRect">
            <a:avLst/>
          </a:prstGeom>
          <a:solidFill>
            <a:srgbClr val="FFFFFF"/>
          </a:solidFill>
          <a:ln w="1524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Rectangle: Rounded Corners 8">
            <a:extLst>
              <a:ext uri="{FF2B5EF4-FFF2-40B4-BE49-F238E27FC236}">
                <a16:creationId xmlns:a16="http://schemas.microsoft.com/office/drawing/2014/main" id="{08914138-1197-4C23-0058-3B032C1F2361}"/>
              </a:ext>
            </a:extLst>
          </p:cNvPr>
          <p:cNvSpPr/>
          <p:nvPr/>
        </p:nvSpPr>
        <p:spPr>
          <a:xfrm>
            <a:off x="609600" y="1320800"/>
            <a:ext cx="2794000" cy="2540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00" b="1">
                <a:solidFill>
                  <a:srgbClr val="BA0C2F"/>
                </a:solidFill>
                <a:latin typeface="Segoe UI" panose="020B0502040204020203" pitchFamily="34" charset="0"/>
              </a:rPr>
              <a:t>🏷️ Thao túng giá &amp; Khuyến mãi ảo</a:t>
            </a:r>
          </a:p>
        </p:txBody>
      </p:sp>
      <p:sp>
        <p:nvSpPr>
          <p:cNvPr id="10" name="TextBox 9">
            <a:extLst>
              <a:ext uri="{FF2B5EF4-FFF2-40B4-BE49-F238E27FC236}">
                <a16:creationId xmlns:a16="http://schemas.microsoft.com/office/drawing/2014/main" id="{56CBD712-213C-79A5-8A7E-C5A9E5CE0230}"/>
              </a:ext>
            </a:extLst>
          </p:cNvPr>
          <p:cNvSpPr txBox="1"/>
          <p:nvPr/>
        </p:nvSpPr>
        <p:spPr>
          <a:xfrm>
            <a:off x="609600" y="1625600"/>
            <a:ext cx="5054600" cy="352917"/>
          </a:xfrm>
          <a:prstGeom prst="rect">
            <a:avLst/>
          </a:prstGeom>
          <a:noFill/>
        </p:spPr>
        <p:txBody>
          <a:bodyPr vert="horz" wrap="square" lIns="25400" tIns="25400" rIns="25400" bIns="25400" rtlCol="0">
            <a:spAutoFit/>
          </a:bodyPr>
          <a:lstStyle/>
          <a:p>
            <a:r>
              <a:rPr lang="vi-VN" sz="980">
                <a:solidFill>
                  <a:srgbClr val="1E293B"/>
                </a:solidFill>
                <a:latin typeface="Segoe UI" panose="020B0502040204020203" pitchFamily="34" charset="0"/>
              </a:rPr>
              <a:t>Nâng giá niêm yết đột biến trước các ngày hội sale nhằm tạo mức giảm giá ảo đánh lừa người mua, hoặc cố tình phá giá bất thường nhằm triệt hạ đối thủ cạnh tranh trên sàn.</a:t>
            </a:r>
          </a:p>
        </p:txBody>
      </p:sp>
      <p:sp>
        <p:nvSpPr>
          <p:cNvPr id="11" name="Rectangle: Rounded Corners 10">
            <a:extLst>
              <a:ext uri="{FF2B5EF4-FFF2-40B4-BE49-F238E27FC236}">
                <a16:creationId xmlns:a16="http://schemas.microsoft.com/office/drawing/2014/main" id="{EB0CB730-B0BA-1E83-A0BF-5D8083ADB84E}"/>
              </a:ext>
            </a:extLst>
          </p:cNvPr>
          <p:cNvSpPr/>
          <p:nvPr/>
        </p:nvSpPr>
        <p:spPr>
          <a:xfrm>
            <a:off x="508000" y="2514600"/>
            <a:ext cx="5270500" cy="1206500"/>
          </a:xfrm>
          <a:prstGeom prst="roundRect">
            <a:avLst/>
          </a:prstGeom>
          <a:solidFill>
            <a:srgbClr val="FFFFFF"/>
          </a:solidFill>
          <a:ln w="1524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Rounded Corners 11">
            <a:extLst>
              <a:ext uri="{FF2B5EF4-FFF2-40B4-BE49-F238E27FC236}">
                <a16:creationId xmlns:a16="http://schemas.microsoft.com/office/drawing/2014/main" id="{F37F7ABC-96F6-913C-4587-A0CBF73F31A8}"/>
              </a:ext>
            </a:extLst>
          </p:cNvPr>
          <p:cNvSpPr/>
          <p:nvPr/>
        </p:nvSpPr>
        <p:spPr>
          <a:xfrm>
            <a:off x="609600" y="2590800"/>
            <a:ext cx="3048000" cy="254000"/>
          </a:xfrm>
          <a:prstGeom prst="roundRect">
            <a:avLst/>
          </a:prstGeom>
          <a:solidFill>
            <a:srgbClr val="FEF9C3"/>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00" b="1">
                <a:solidFill>
                  <a:srgbClr val="D97706"/>
                </a:solidFill>
                <a:latin typeface="Segoe UI" panose="020B0502040204020203" pitchFamily="34" charset="0"/>
              </a:rPr>
              <a:t>⭐ Thao túng đánh giá &amp; Bão đánh giá</a:t>
            </a:r>
          </a:p>
        </p:txBody>
      </p:sp>
      <p:sp>
        <p:nvSpPr>
          <p:cNvPr id="13" name="TextBox 12">
            <a:extLst>
              <a:ext uri="{FF2B5EF4-FFF2-40B4-BE49-F238E27FC236}">
                <a16:creationId xmlns:a16="http://schemas.microsoft.com/office/drawing/2014/main" id="{A8DFDCE0-1535-3784-3AAA-0CFA62A49E77}"/>
              </a:ext>
            </a:extLst>
          </p:cNvPr>
          <p:cNvSpPr txBox="1"/>
          <p:nvPr/>
        </p:nvSpPr>
        <p:spPr>
          <a:xfrm>
            <a:off x="609600" y="2895600"/>
            <a:ext cx="5054600" cy="503728"/>
          </a:xfrm>
          <a:prstGeom prst="rect">
            <a:avLst/>
          </a:prstGeom>
          <a:noFill/>
        </p:spPr>
        <p:txBody>
          <a:bodyPr vert="horz" wrap="square" lIns="25400" tIns="25400" rIns="25400" bIns="25400" rtlCol="0">
            <a:spAutoFit/>
          </a:bodyPr>
          <a:lstStyle/>
          <a:p>
            <a:r>
              <a:rPr lang="vi-VN" sz="980">
                <a:solidFill>
                  <a:srgbClr val="1E293B"/>
                </a:solidFill>
                <a:latin typeface="Segoe UI" panose="020B0502040204020203" pitchFamily="34" charset="0"/>
              </a:rPr>
              <a:t>Thuê botnet seeding hàng loạt đánh giá 5 sao giả mạo đẩy thứ hạng hiển thị, hoặc bị đối thủ tấn công bão 1 sao hàng loạt (Review Bombing) phá hoại uy tín gian hàng trong thời gian ngắn.</a:t>
            </a:r>
          </a:p>
        </p:txBody>
      </p:sp>
      <p:sp>
        <p:nvSpPr>
          <p:cNvPr id="14" name="Rectangle: Rounded Corners 13">
            <a:extLst>
              <a:ext uri="{FF2B5EF4-FFF2-40B4-BE49-F238E27FC236}">
                <a16:creationId xmlns:a16="http://schemas.microsoft.com/office/drawing/2014/main" id="{385BB4FD-07BF-048A-E74C-9D36F7E1C047}"/>
              </a:ext>
            </a:extLst>
          </p:cNvPr>
          <p:cNvSpPr/>
          <p:nvPr/>
        </p:nvSpPr>
        <p:spPr>
          <a:xfrm>
            <a:off x="508000" y="3784600"/>
            <a:ext cx="5270500" cy="1206500"/>
          </a:xfrm>
          <a:prstGeom prst="roundRect">
            <a:avLst/>
          </a:prstGeom>
          <a:solidFill>
            <a:srgbClr val="FFFFFF"/>
          </a:solidFill>
          <a:ln w="1524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Rectangle: Rounded Corners 14">
            <a:extLst>
              <a:ext uri="{FF2B5EF4-FFF2-40B4-BE49-F238E27FC236}">
                <a16:creationId xmlns:a16="http://schemas.microsoft.com/office/drawing/2014/main" id="{D7F3BA18-82A1-06A7-1D72-ED5F4B5226E4}"/>
              </a:ext>
            </a:extLst>
          </p:cNvPr>
          <p:cNvSpPr/>
          <p:nvPr/>
        </p:nvSpPr>
        <p:spPr>
          <a:xfrm>
            <a:off x="609600" y="3860800"/>
            <a:ext cx="2794000" cy="254000"/>
          </a:xfrm>
          <a:prstGeom prst="roundRect">
            <a:avLst/>
          </a:prstGeom>
          <a:solidFill>
            <a:srgbClr val="EFF6FF"/>
          </a:solidFill>
          <a:ln w="1270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00" b="1">
                <a:solidFill>
                  <a:srgbClr val="0284C7"/>
                </a:solidFill>
                <a:latin typeface="Segoe UI" panose="020B0502040204020203" pitchFamily="34" charset="0"/>
              </a:rPr>
              <a:t>📉 Sụt giảm chất lượng đột ngột</a:t>
            </a:r>
          </a:p>
        </p:txBody>
      </p:sp>
      <p:sp>
        <p:nvSpPr>
          <p:cNvPr id="16" name="TextBox 15">
            <a:extLst>
              <a:ext uri="{FF2B5EF4-FFF2-40B4-BE49-F238E27FC236}">
                <a16:creationId xmlns:a16="http://schemas.microsoft.com/office/drawing/2014/main" id="{60B8EE75-BF21-230D-4131-2BEEE82B391C}"/>
              </a:ext>
            </a:extLst>
          </p:cNvPr>
          <p:cNvSpPr txBox="1"/>
          <p:nvPr/>
        </p:nvSpPr>
        <p:spPr>
          <a:xfrm>
            <a:off x="609600" y="4165600"/>
            <a:ext cx="5054600" cy="503728"/>
          </a:xfrm>
          <a:prstGeom prst="rect">
            <a:avLst/>
          </a:prstGeom>
          <a:noFill/>
        </p:spPr>
        <p:txBody>
          <a:bodyPr vert="horz" wrap="square" lIns="25400" tIns="25400" rIns="25400" bIns="25400" rtlCol="0">
            <a:spAutoFit/>
          </a:bodyPr>
          <a:lstStyle/>
          <a:p>
            <a:r>
              <a:rPr lang="vi-VN" sz="980">
                <a:solidFill>
                  <a:srgbClr val="1E293B"/>
                </a:solidFill>
                <a:latin typeface="Segoe UI" panose="020B0502040204020203" pitchFamily="34" charset="0"/>
              </a:rPr>
              <a:t>Điểm đánh giá trung bình tụt dốc nghiêm trọng so với lịch sử do lô hàng lỗi hoặc chất lượng dịch vụ suy giảm nhưng các nền tảng thương mại điện tử không có cơ chế cảnh báo sớm.</a:t>
            </a:r>
          </a:p>
        </p:txBody>
      </p:sp>
      <p:sp>
        <p:nvSpPr>
          <p:cNvPr id="17" name="Rectangle: Rounded Corners 16">
            <a:extLst>
              <a:ext uri="{FF2B5EF4-FFF2-40B4-BE49-F238E27FC236}">
                <a16:creationId xmlns:a16="http://schemas.microsoft.com/office/drawing/2014/main" id="{4C2E917A-B140-569A-0B89-1E63A457B8A3}"/>
              </a:ext>
            </a:extLst>
          </p:cNvPr>
          <p:cNvSpPr/>
          <p:nvPr/>
        </p:nvSpPr>
        <p:spPr>
          <a:xfrm>
            <a:off x="508000" y="5080000"/>
            <a:ext cx="5270500" cy="9652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TextBox 17">
            <a:extLst>
              <a:ext uri="{FF2B5EF4-FFF2-40B4-BE49-F238E27FC236}">
                <a16:creationId xmlns:a16="http://schemas.microsoft.com/office/drawing/2014/main" id="{33B5CA0E-A579-0078-4078-41619EB8D108}"/>
              </a:ext>
            </a:extLst>
          </p:cNvPr>
          <p:cNvSpPr txBox="1"/>
          <p:nvPr/>
        </p:nvSpPr>
        <p:spPr>
          <a:xfrm>
            <a:off x="609600" y="5143500"/>
            <a:ext cx="5054600" cy="489878"/>
          </a:xfrm>
          <a:prstGeom prst="rect">
            <a:avLst/>
          </a:prstGeom>
          <a:noFill/>
        </p:spPr>
        <p:txBody>
          <a:bodyPr vert="horz" wrap="square" lIns="25400" tIns="25400" rIns="25400" bIns="25400" rtlCol="0">
            <a:spAutoFit/>
          </a:bodyPr>
          <a:lstStyle/>
          <a:p>
            <a:r>
              <a:rPr lang="vi-VN" sz="950" b="1">
                <a:solidFill>
                  <a:srgbClr val="BA0C2F"/>
                </a:solidFill>
                <a:latin typeface="Segoe UI" panose="020B0502040204020203" pitchFamily="34" charset="0"/>
              </a:rPr>
              <a:t>⚠️ Hệ quả thực tiễn:
Làm sai lệch kết quả xếp hạng và đề xuất thuật toán, gây thiệt hại tài chính cho người tiêu dùng và làm suy giảm uy tín của sàn TMĐT.</a:t>
            </a:r>
          </a:p>
        </p:txBody>
      </p:sp>
      <p:sp>
        <p:nvSpPr>
          <p:cNvPr id="19" name="Rectangle: Rounded Corners 18">
            <a:extLst>
              <a:ext uri="{FF2B5EF4-FFF2-40B4-BE49-F238E27FC236}">
                <a16:creationId xmlns:a16="http://schemas.microsoft.com/office/drawing/2014/main" id="{1EF5C0E6-E42E-3BFA-B660-AB1326454BAE}"/>
              </a:ext>
            </a:extLst>
          </p:cNvPr>
          <p:cNvSpPr/>
          <p:nvPr/>
        </p:nvSpPr>
        <p:spPr>
          <a:xfrm>
            <a:off x="6159500" y="736600"/>
            <a:ext cx="5651500" cy="5634892"/>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0" name="Rectangle 19">
            <a:extLst>
              <a:ext uri="{FF2B5EF4-FFF2-40B4-BE49-F238E27FC236}">
                <a16:creationId xmlns:a16="http://schemas.microsoft.com/office/drawing/2014/main" id="{445063B7-1785-8032-C33C-7162CAA6149B}"/>
              </a:ext>
            </a:extLst>
          </p:cNvPr>
          <p:cNvSpPr/>
          <p:nvPr/>
        </p:nvSpPr>
        <p:spPr>
          <a:xfrm>
            <a:off x="6159500" y="736600"/>
            <a:ext cx="5651500" cy="406400"/>
          </a:xfrm>
          <a:prstGeom prst="rect">
            <a:avLst/>
          </a:prstGeom>
          <a:solidFill>
            <a:srgbClr val="1E29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TextBox 20">
            <a:extLst>
              <a:ext uri="{FF2B5EF4-FFF2-40B4-BE49-F238E27FC236}">
                <a16:creationId xmlns:a16="http://schemas.microsoft.com/office/drawing/2014/main" id="{98CD4667-64E9-6A9C-3317-711D2720F789}"/>
              </a:ext>
            </a:extLst>
          </p:cNvPr>
          <p:cNvSpPr txBox="1"/>
          <p:nvPr/>
        </p:nvSpPr>
        <p:spPr>
          <a:xfrm>
            <a:off x="6286500" y="812800"/>
            <a:ext cx="5397500" cy="228268"/>
          </a:xfrm>
          <a:prstGeom prst="rect">
            <a:avLst/>
          </a:prstGeom>
          <a:noFill/>
        </p:spPr>
        <p:txBody>
          <a:bodyPr vert="horz" wrap="square" lIns="25400" tIns="25400" rIns="25400" bIns="25400" rtlCol="0">
            <a:spAutoFit/>
          </a:bodyPr>
          <a:lstStyle/>
          <a:p>
            <a:pPr algn="ctr"/>
            <a:r>
              <a:rPr lang="vi-VN" sz="1150" b="1">
                <a:solidFill>
                  <a:srgbClr val="FFFFFF"/>
                </a:solidFill>
                <a:latin typeface="Segoe UI" panose="020B0502040204020203" pitchFamily="34" charset="0"/>
              </a:rPr>
              <a:t>2.2. BÀI TOÁN KỸ THUẬT DỮ LIỆU LỚN (3V CHALLENGES)</a:t>
            </a:r>
          </a:p>
        </p:txBody>
      </p:sp>
      <p:sp>
        <p:nvSpPr>
          <p:cNvPr id="22" name="Rectangle: Rounded Corners 21">
            <a:extLst>
              <a:ext uri="{FF2B5EF4-FFF2-40B4-BE49-F238E27FC236}">
                <a16:creationId xmlns:a16="http://schemas.microsoft.com/office/drawing/2014/main" id="{D1AFC980-8120-D3DF-1303-187F91F602E6}"/>
              </a:ext>
            </a:extLst>
          </p:cNvPr>
          <p:cNvSpPr/>
          <p:nvPr/>
        </p:nvSpPr>
        <p:spPr>
          <a:xfrm>
            <a:off x="6286500" y="1244600"/>
            <a:ext cx="5397500" cy="1206500"/>
          </a:xfrm>
          <a:prstGeom prst="roundRect">
            <a:avLst/>
          </a:prstGeom>
          <a:solidFill>
            <a:srgbClr val="FFFFFF"/>
          </a:solidFill>
          <a:ln w="1524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Rectangle: Rounded Corners 22">
            <a:extLst>
              <a:ext uri="{FF2B5EF4-FFF2-40B4-BE49-F238E27FC236}">
                <a16:creationId xmlns:a16="http://schemas.microsoft.com/office/drawing/2014/main" id="{69992295-7785-911A-61A1-829052A9E5AE}"/>
              </a:ext>
            </a:extLst>
          </p:cNvPr>
          <p:cNvSpPr/>
          <p:nvPr/>
        </p:nvSpPr>
        <p:spPr>
          <a:xfrm>
            <a:off x="6388100" y="1320800"/>
            <a:ext cx="1397000" cy="279400"/>
          </a:xfrm>
          <a:prstGeom prst="round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VOLUME</a:t>
            </a:r>
          </a:p>
        </p:txBody>
      </p:sp>
      <p:sp>
        <p:nvSpPr>
          <p:cNvPr id="24" name="Rectangle: Rounded Corners 23">
            <a:extLst>
              <a:ext uri="{FF2B5EF4-FFF2-40B4-BE49-F238E27FC236}">
                <a16:creationId xmlns:a16="http://schemas.microsoft.com/office/drawing/2014/main" id="{04F171A7-05DD-5945-D8D3-811C3D989685}"/>
              </a:ext>
            </a:extLst>
          </p:cNvPr>
          <p:cNvSpPr/>
          <p:nvPr/>
        </p:nvSpPr>
        <p:spPr>
          <a:xfrm>
            <a:off x="7874000" y="1320800"/>
            <a:ext cx="2222500" cy="2794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BA0C2F"/>
                </a:solidFill>
                <a:latin typeface="Segoe UI" panose="020B0502040204020203" pitchFamily="34" charset="0"/>
              </a:rPr>
              <a:t>100.000 ➔ 1.000.000+ bản ghi</a:t>
            </a:r>
          </a:p>
        </p:txBody>
      </p:sp>
      <p:sp>
        <p:nvSpPr>
          <p:cNvPr id="25" name="TextBox 24">
            <a:extLst>
              <a:ext uri="{FF2B5EF4-FFF2-40B4-BE49-F238E27FC236}">
                <a16:creationId xmlns:a16="http://schemas.microsoft.com/office/drawing/2014/main" id="{D57E870F-CBB0-5403-96C6-BC7223F319E7}"/>
              </a:ext>
            </a:extLst>
          </p:cNvPr>
          <p:cNvSpPr txBox="1"/>
          <p:nvPr/>
        </p:nvSpPr>
        <p:spPr>
          <a:xfrm>
            <a:off x="6388100" y="1651000"/>
            <a:ext cx="5181600" cy="489878"/>
          </a:xfrm>
          <a:prstGeom prst="rect">
            <a:avLst/>
          </a:prstGeom>
          <a:noFill/>
        </p:spPr>
        <p:txBody>
          <a:bodyPr vert="horz" wrap="square" lIns="25400" tIns="25400" rIns="25400" bIns="25400" rtlCol="0">
            <a:spAutoFit/>
          </a:bodyPr>
          <a:lstStyle/>
          <a:p>
            <a:r>
              <a:rPr lang="vi-VN" sz="950">
                <a:solidFill>
                  <a:srgbClr val="1E293B"/>
                </a:solidFill>
                <a:latin typeface="Segoe UI" panose="020B0502040204020203" pitchFamily="34" charset="0"/>
              </a:rPr>
              <a:t>• Thách thức: Khối lượng lớn danh mục sản phẩm, lịch sử biến động giá theo từng khung giờ và hàng triệu bản ghi đánh giá lịch sử.
• Giải pháp: MinIO Medallion Lakehouse (Parquet Snappy) + PostgreSQL DW.</a:t>
            </a:r>
          </a:p>
        </p:txBody>
      </p:sp>
      <p:sp>
        <p:nvSpPr>
          <p:cNvPr id="26" name="Rectangle: Rounded Corners 25">
            <a:extLst>
              <a:ext uri="{FF2B5EF4-FFF2-40B4-BE49-F238E27FC236}">
                <a16:creationId xmlns:a16="http://schemas.microsoft.com/office/drawing/2014/main" id="{6190FBE9-E77B-EA81-9DCB-9E9C5E74EAD2}"/>
              </a:ext>
            </a:extLst>
          </p:cNvPr>
          <p:cNvSpPr/>
          <p:nvPr/>
        </p:nvSpPr>
        <p:spPr>
          <a:xfrm>
            <a:off x="6286500" y="2514600"/>
            <a:ext cx="5397500" cy="1206500"/>
          </a:xfrm>
          <a:prstGeom prst="roundRect">
            <a:avLst/>
          </a:prstGeom>
          <a:solidFill>
            <a:srgbClr val="FFFFFF"/>
          </a:solidFill>
          <a:ln w="1524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7" name="Rectangle: Rounded Corners 26">
            <a:extLst>
              <a:ext uri="{FF2B5EF4-FFF2-40B4-BE49-F238E27FC236}">
                <a16:creationId xmlns:a16="http://schemas.microsoft.com/office/drawing/2014/main" id="{2F089759-C8C3-4069-5BFA-8BF2DE5FE82D}"/>
              </a:ext>
            </a:extLst>
          </p:cNvPr>
          <p:cNvSpPr/>
          <p:nvPr/>
        </p:nvSpPr>
        <p:spPr>
          <a:xfrm>
            <a:off x="6388100" y="2590800"/>
            <a:ext cx="1397000" cy="279400"/>
          </a:xfrm>
          <a:prstGeom prst="roundRect">
            <a:avLst/>
          </a:prstGeom>
          <a:solidFill>
            <a:srgbClr val="D9770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VELOCITY</a:t>
            </a:r>
          </a:p>
        </p:txBody>
      </p:sp>
      <p:sp>
        <p:nvSpPr>
          <p:cNvPr id="28" name="Rectangle: Rounded Corners 27">
            <a:extLst>
              <a:ext uri="{FF2B5EF4-FFF2-40B4-BE49-F238E27FC236}">
                <a16:creationId xmlns:a16="http://schemas.microsoft.com/office/drawing/2014/main" id="{72762A90-E9DB-341D-8B3B-EB724075F6D7}"/>
              </a:ext>
            </a:extLst>
          </p:cNvPr>
          <p:cNvSpPr/>
          <p:nvPr/>
        </p:nvSpPr>
        <p:spPr>
          <a:xfrm>
            <a:off x="7874000" y="2590800"/>
            <a:ext cx="2222500" cy="279400"/>
          </a:xfrm>
          <a:prstGeom prst="roundRect">
            <a:avLst/>
          </a:prstGeom>
          <a:solidFill>
            <a:srgbClr val="FEF9C3"/>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D97706"/>
                </a:solidFill>
                <a:latin typeface="Segoe UI" panose="020B0502040204020203" pitchFamily="34" charset="0"/>
              </a:rPr>
              <a:t>10 – 500+ sự kiện / giây</a:t>
            </a:r>
          </a:p>
        </p:txBody>
      </p:sp>
      <p:sp>
        <p:nvSpPr>
          <p:cNvPr id="29" name="TextBox 28">
            <a:extLst>
              <a:ext uri="{FF2B5EF4-FFF2-40B4-BE49-F238E27FC236}">
                <a16:creationId xmlns:a16="http://schemas.microsoft.com/office/drawing/2014/main" id="{AEFF6EC0-B615-60D2-0397-A7AFB47C64BE}"/>
              </a:ext>
            </a:extLst>
          </p:cNvPr>
          <p:cNvSpPr txBox="1"/>
          <p:nvPr/>
        </p:nvSpPr>
        <p:spPr>
          <a:xfrm>
            <a:off x="6388100" y="2921000"/>
            <a:ext cx="5181600" cy="489878"/>
          </a:xfrm>
          <a:prstGeom prst="rect">
            <a:avLst/>
          </a:prstGeom>
          <a:noFill/>
        </p:spPr>
        <p:txBody>
          <a:bodyPr vert="horz" wrap="square" lIns="25400" tIns="25400" rIns="25400" bIns="25400" rtlCol="0">
            <a:spAutoFit/>
          </a:bodyPr>
          <a:lstStyle/>
          <a:p>
            <a:r>
              <a:rPr lang="vi-VN" sz="950">
                <a:solidFill>
                  <a:srgbClr val="1E293B"/>
                </a:solidFill>
                <a:latin typeface="Segoe UI" panose="020B0502040204020203" pitchFamily="34" charset="0"/>
              </a:rPr>
              <a:t>• Thách thức: Luồng sự kiện giá &amp; review phát sinh liên tục, yêu cầu xử lý và phát hiện bất thường sát với thời gian thực (sub-second).
• Giải pháp: Apache Kafka 3.7 KRaft Mode + Spark Structured Streaming.</a:t>
            </a:r>
          </a:p>
        </p:txBody>
      </p:sp>
      <p:sp>
        <p:nvSpPr>
          <p:cNvPr id="30" name="Rectangle: Rounded Corners 29">
            <a:extLst>
              <a:ext uri="{FF2B5EF4-FFF2-40B4-BE49-F238E27FC236}">
                <a16:creationId xmlns:a16="http://schemas.microsoft.com/office/drawing/2014/main" id="{AD046539-C676-FC97-BAF0-CE96E37ECF90}"/>
              </a:ext>
            </a:extLst>
          </p:cNvPr>
          <p:cNvSpPr/>
          <p:nvPr/>
        </p:nvSpPr>
        <p:spPr>
          <a:xfrm>
            <a:off x="6286500" y="3784600"/>
            <a:ext cx="5397500" cy="1206500"/>
          </a:xfrm>
          <a:prstGeom prst="roundRect">
            <a:avLst/>
          </a:prstGeom>
          <a:solidFill>
            <a:srgbClr val="FFFFFF"/>
          </a:solidFill>
          <a:ln w="1524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Rectangle: Rounded Corners 30">
            <a:extLst>
              <a:ext uri="{FF2B5EF4-FFF2-40B4-BE49-F238E27FC236}">
                <a16:creationId xmlns:a16="http://schemas.microsoft.com/office/drawing/2014/main" id="{0D0AB6D3-8633-08E4-D1F7-8C5B6F4981D7}"/>
              </a:ext>
            </a:extLst>
          </p:cNvPr>
          <p:cNvSpPr/>
          <p:nvPr/>
        </p:nvSpPr>
        <p:spPr>
          <a:xfrm>
            <a:off x="6388100" y="3860800"/>
            <a:ext cx="1397000" cy="2794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VARIETY</a:t>
            </a:r>
          </a:p>
        </p:txBody>
      </p:sp>
      <p:sp>
        <p:nvSpPr>
          <p:cNvPr id="32" name="Rectangle: Rounded Corners 31">
            <a:extLst>
              <a:ext uri="{FF2B5EF4-FFF2-40B4-BE49-F238E27FC236}">
                <a16:creationId xmlns:a16="http://schemas.microsoft.com/office/drawing/2014/main" id="{72EFCB8B-B878-207F-C4C5-212993016381}"/>
              </a:ext>
            </a:extLst>
          </p:cNvPr>
          <p:cNvSpPr/>
          <p:nvPr/>
        </p:nvSpPr>
        <p:spPr>
          <a:xfrm>
            <a:off x="7874000" y="3860800"/>
            <a:ext cx="2222500" cy="279400"/>
          </a:xfrm>
          <a:prstGeom prst="roundRect">
            <a:avLst/>
          </a:prstGeom>
          <a:solidFill>
            <a:srgbClr val="EFF6FF"/>
          </a:solidFill>
          <a:ln w="1270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0284C7"/>
                </a:solidFill>
                <a:latin typeface="Segoe UI" panose="020B0502040204020203" pitchFamily="34" charset="0"/>
              </a:rPr>
              <a:t>HTML, JSON, CSV, Parquet</a:t>
            </a:r>
          </a:p>
        </p:txBody>
      </p:sp>
      <p:sp>
        <p:nvSpPr>
          <p:cNvPr id="33" name="TextBox 32">
            <a:extLst>
              <a:ext uri="{FF2B5EF4-FFF2-40B4-BE49-F238E27FC236}">
                <a16:creationId xmlns:a16="http://schemas.microsoft.com/office/drawing/2014/main" id="{18F75A19-7D0C-77F1-3083-8C5F4FEBAD39}"/>
              </a:ext>
            </a:extLst>
          </p:cNvPr>
          <p:cNvSpPr txBox="1"/>
          <p:nvPr/>
        </p:nvSpPr>
        <p:spPr>
          <a:xfrm>
            <a:off x="6388100" y="4191000"/>
            <a:ext cx="5181600" cy="489878"/>
          </a:xfrm>
          <a:prstGeom prst="rect">
            <a:avLst/>
          </a:prstGeom>
          <a:noFill/>
        </p:spPr>
        <p:txBody>
          <a:bodyPr vert="horz" wrap="square" lIns="25400" tIns="25400" rIns="25400" bIns="25400" rtlCol="0">
            <a:spAutoFit/>
          </a:bodyPr>
          <a:lstStyle/>
          <a:p>
            <a:r>
              <a:rPr lang="vi-VN" sz="950">
                <a:solidFill>
                  <a:srgbClr val="1E293B"/>
                </a:solidFill>
                <a:latin typeface="Segoe UI" panose="020B0502040204020203" pitchFamily="34" charset="0"/>
              </a:rPr>
              <a:t>• Thách thức: Dữ liệu có cấu trúc &amp; phi cấu trúc (văn bản tiếng Việt, teencode, icon), nhiều dữ liệu rác, trùng lặp và lỗi schema.
• Giải pháp: JSON Schema Contract + PyArrow + Spark Silver Cleansing.</a:t>
            </a:r>
          </a:p>
        </p:txBody>
      </p:sp>
      <p:sp>
        <p:nvSpPr>
          <p:cNvPr id="34" name="Rectangle: Rounded Corners 33">
            <a:extLst>
              <a:ext uri="{FF2B5EF4-FFF2-40B4-BE49-F238E27FC236}">
                <a16:creationId xmlns:a16="http://schemas.microsoft.com/office/drawing/2014/main" id="{1084F8DF-B009-657E-3EEA-BBCD6D65A0D5}"/>
              </a:ext>
            </a:extLst>
          </p:cNvPr>
          <p:cNvSpPr/>
          <p:nvPr/>
        </p:nvSpPr>
        <p:spPr>
          <a:xfrm>
            <a:off x="6286500" y="5080000"/>
            <a:ext cx="5397500" cy="965200"/>
          </a:xfrm>
          <a:prstGeom prst="roundRect">
            <a:avLst/>
          </a:prstGeom>
          <a:solidFill>
            <a:srgbClr val="ECFDF5"/>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5" name="TextBox 34">
            <a:extLst>
              <a:ext uri="{FF2B5EF4-FFF2-40B4-BE49-F238E27FC236}">
                <a16:creationId xmlns:a16="http://schemas.microsoft.com/office/drawing/2014/main" id="{2A908767-4A52-AC5C-7091-036E2A0AA434}"/>
              </a:ext>
            </a:extLst>
          </p:cNvPr>
          <p:cNvSpPr txBox="1"/>
          <p:nvPr/>
        </p:nvSpPr>
        <p:spPr>
          <a:xfrm>
            <a:off x="6388100" y="5143500"/>
            <a:ext cx="5181600" cy="489878"/>
          </a:xfrm>
          <a:prstGeom prst="rect">
            <a:avLst/>
          </a:prstGeom>
          <a:noFill/>
        </p:spPr>
        <p:txBody>
          <a:bodyPr vert="horz" wrap="square" lIns="25400" tIns="25400" rIns="25400" bIns="25400" rtlCol="0">
            <a:spAutoFit/>
          </a:bodyPr>
          <a:lstStyle/>
          <a:p>
            <a:r>
              <a:rPr lang="vi-VN" sz="950" b="1">
                <a:solidFill>
                  <a:srgbClr val="10B981"/>
                </a:solidFill>
                <a:latin typeface="Segoe UI" panose="020B0502040204020203" pitchFamily="34" charset="0"/>
              </a:rPr>
              <a:t>🎯 Mục tiêu Kỹ thuật:
Xây dựng kiến trúc Data Pipeline phân tán, có khả năng mở rộng linh hoạt (Scalable), chịu lỗi cao (Fault-tolerant) và đảm bảo chất lượng dữ liệu.</a:t>
            </a:r>
          </a:p>
        </p:txBody>
      </p:sp>
    </p:spTree>
    <p:extLst>
      <p:ext uri="{BB962C8B-B14F-4D97-AF65-F5344CB8AC3E}">
        <p14:creationId xmlns:p14="http://schemas.microsoft.com/office/powerpoint/2010/main" val="22143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744239-BDB6-59E4-2296-7CACEEF3FE46}"/>
              </a:ext>
            </a:extLst>
          </p:cNvPr>
          <p:cNvSpPr>
            <a:spLocks noGrp="1"/>
          </p:cNvSpPr>
          <p:nvPr>
            <p:ph type="sldNum" sz="quarter" idx="12"/>
          </p:nvPr>
        </p:nvSpPr>
        <p:spPr/>
        <p:txBody>
          <a:bodyPr/>
          <a:lstStyle/>
          <a:p>
            <a:r>
              <a:rPr lang="en-US">
                <a:solidFill>
                  <a:srgbClr val="BA0C2F"/>
                </a:solidFill>
                <a:latin typeface="Segoe UI" panose="020B0502040204020203" pitchFamily="34" charset="0"/>
              </a:rPr>
              <a:t>3</a:t>
            </a:r>
            <a:endParaRPr lang="en-US" dirty="0">
              <a:solidFill>
                <a:srgbClr val="BA0C2F"/>
              </a:solidFill>
              <a:latin typeface="Segoe UI" panose="020B0502040204020203" pitchFamily="34" charset="0"/>
            </a:endParaRPr>
          </a:p>
        </p:txBody>
      </p:sp>
      <p:sp>
        <p:nvSpPr>
          <p:cNvPr id="3" name="Title 2">
            <a:extLst>
              <a:ext uri="{FF2B5EF4-FFF2-40B4-BE49-F238E27FC236}">
                <a16:creationId xmlns:a16="http://schemas.microsoft.com/office/drawing/2014/main" id="{961FC558-DEF5-2E6C-6312-205143B7597F}"/>
              </a:ext>
            </a:extLst>
          </p:cNvPr>
          <p:cNvSpPr>
            <a:spLocks noGrp="1"/>
          </p:cNvSpPr>
          <p:nvPr>
            <p:ph type="title"/>
          </p:nvPr>
        </p:nvSpPr>
        <p:spPr/>
        <p:txBody>
          <a:bodyPr/>
          <a:lstStyle/>
          <a:p>
            <a:r>
              <a:rPr lang="vi-VN" sz="2000">
                <a:solidFill>
                  <a:srgbClr val="FFFFFF"/>
                </a:solidFill>
                <a:latin typeface="Segoe UI" panose="020B0502040204020203" pitchFamily="34" charset="0"/>
              </a:rPr>
              <a:t>3. CÔNG NGHỆ SỬ DỤNG (TECH STACK)</a:t>
            </a:r>
          </a:p>
        </p:txBody>
      </p:sp>
      <p:graphicFrame>
        <p:nvGraphicFramePr>
          <p:cNvPr id="5" name="Table 4">
            <a:extLst>
              <a:ext uri="{FF2B5EF4-FFF2-40B4-BE49-F238E27FC236}">
                <a16:creationId xmlns:a16="http://schemas.microsoft.com/office/drawing/2014/main" id="{03122056-1574-7613-DAC0-4AD5EAA42D55}"/>
              </a:ext>
            </a:extLst>
          </p:cNvPr>
          <p:cNvGraphicFramePr>
            <a:graphicFrameLocks noGrp="1"/>
          </p:cNvGraphicFramePr>
          <p:nvPr>
            <p:extLst>
              <p:ext uri="{D42A27DB-BD31-4B8C-83A1-F6EECF244321}">
                <p14:modId xmlns:p14="http://schemas.microsoft.com/office/powerpoint/2010/main" val="3702194948"/>
              </p:ext>
            </p:extLst>
          </p:nvPr>
        </p:nvGraphicFramePr>
        <p:xfrm>
          <a:off x="381000" y="736599"/>
          <a:ext cx="11430000" cy="5461002"/>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469864490"/>
                    </a:ext>
                  </a:extLst>
                </a:gridCol>
                <a:gridCol w="3175000">
                  <a:extLst>
                    <a:ext uri="{9D8B030D-6E8A-4147-A177-3AD203B41FA5}">
                      <a16:colId xmlns:a16="http://schemas.microsoft.com/office/drawing/2014/main" val="3639373132"/>
                    </a:ext>
                  </a:extLst>
                </a:gridCol>
                <a:gridCol w="5588000">
                  <a:extLst>
                    <a:ext uri="{9D8B030D-6E8A-4147-A177-3AD203B41FA5}">
                      <a16:colId xmlns:a16="http://schemas.microsoft.com/office/drawing/2014/main" val="3969760049"/>
                    </a:ext>
                  </a:extLst>
                </a:gridCol>
              </a:tblGrid>
              <a:tr h="606778">
                <a:tc>
                  <a:txBody>
                    <a:bodyPr/>
                    <a:lstStyle/>
                    <a:p>
                      <a:pPr algn="ctr"/>
                      <a:r>
                        <a:rPr lang="vi-VN" sz="1150" b="1">
                          <a:solidFill>
                            <a:srgbClr val="FFFFFF"/>
                          </a:solidFill>
                          <a:latin typeface="Segoe UI" panose="020B0502040204020203" pitchFamily="34" charset="0"/>
                        </a:rPr>
                        <a:t>Từng chức năng / Thành phần</a:t>
                      </a:r>
                    </a:p>
                  </a:txBody>
                  <a:tcPr>
                    <a:solidFill>
                      <a:srgbClr val="BA0C2F"/>
                    </a:solidFill>
                  </a:tcPr>
                </a:tc>
                <a:tc>
                  <a:txBody>
                    <a:bodyPr/>
                    <a:lstStyle/>
                    <a:p>
                      <a:pPr algn="ctr"/>
                      <a:r>
                        <a:rPr lang="vi-VN" sz="1150" b="1">
                          <a:solidFill>
                            <a:srgbClr val="FFFFFF"/>
                          </a:solidFill>
                          <a:latin typeface="Segoe UI" panose="020B0502040204020203" pitchFamily="34" charset="0"/>
                        </a:rPr>
                        <a:t>Công nghệ / Thư viện lựa chọn</a:t>
                      </a:r>
                    </a:p>
                  </a:txBody>
                  <a:tcPr>
                    <a:solidFill>
                      <a:srgbClr val="BA0C2F"/>
                    </a:solidFill>
                  </a:tcPr>
                </a:tc>
                <a:tc>
                  <a:txBody>
                    <a:bodyPr/>
                    <a:lstStyle/>
                    <a:p>
                      <a:pPr algn="ctr"/>
                      <a:r>
                        <a:rPr lang="vi-VN" sz="1150" b="1">
                          <a:solidFill>
                            <a:srgbClr val="FFFFFF"/>
                          </a:solidFill>
                          <a:latin typeface="Segoe UI" panose="020B0502040204020203" pitchFamily="34" charset="0"/>
                        </a:rPr>
                        <a:t>Vai trò &amp; Nhiệm vụ trong dự án</a:t>
                      </a:r>
                    </a:p>
                  </a:txBody>
                  <a:tcPr>
                    <a:solidFill>
                      <a:srgbClr val="BA0C2F"/>
                    </a:solidFill>
                  </a:tcPr>
                </a:tc>
                <a:extLst>
                  <a:ext uri="{0D108BD9-81ED-4DB2-BD59-A6C34878D82A}">
                    <a16:rowId xmlns:a16="http://schemas.microsoft.com/office/drawing/2014/main" val="1759661963"/>
                  </a:ext>
                </a:extLst>
              </a:tr>
              <a:tr h="606778">
                <a:tc>
                  <a:txBody>
                    <a:bodyPr/>
                    <a:lstStyle/>
                    <a:p>
                      <a:r>
                        <a:rPr lang="vi-VN" sz="980" b="1">
                          <a:solidFill>
                            <a:srgbClr val="1E293B"/>
                          </a:solidFill>
                          <a:latin typeface="Segoe UI" panose="020B0502040204020203" pitchFamily="34" charset="0"/>
                        </a:rPr>
                        <a:t>1. Thu thập dữ liệu
(Data Ingestion)</a:t>
                      </a:r>
                    </a:p>
                  </a:txBody>
                  <a:tcPr marL="76200" marR="76200" marT="38100" marB="38100">
                    <a:solidFill>
                      <a:srgbClr val="FFFFFF"/>
                    </a:solidFill>
                  </a:tcPr>
                </a:tc>
                <a:tc>
                  <a:txBody>
                    <a:bodyPr/>
                    <a:lstStyle/>
                    <a:p>
                      <a:r>
                        <a:rPr lang="en-US" sz="980" b="1">
                          <a:solidFill>
                            <a:srgbClr val="BA0C2F"/>
                          </a:solidFill>
                          <a:latin typeface="Segoe UI" panose="020B0502040204020203" pitchFamily="34" charset="0"/>
                        </a:rPr>
                        <a:t>Python 3.10+, Requests,
JSON Schema, PyArrow</a:t>
                      </a:r>
                      <a:endParaRPr lang="vi-VN" sz="980" b="1">
                        <a:solidFill>
                          <a:srgbClr val="BA0C2F"/>
                        </a:solidFill>
                        <a:latin typeface="Segoe UI" panose="020B0502040204020203" pitchFamily="34" charset="0"/>
                      </a:endParaRPr>
                    </a:p>
                  </a:txBody>
                  <a:tcPr marL="76200" marR="76200" marT="38100" marB="38100">
                    <a:solidFill>
                      <a:srgbClr val="FFFFFF"/>
                    </a:solidFill>
                  </a:tcPr>
                </a:tc>
                <a:tc>
                  <a:txBody>
                    <a:bodyPr/>
                    <a:lstStyle/>
                    <a:p>
                      <a:r>
                        <a:rPr lang="vi-VN" sz="980" b="0">
                          <a:solidFill>
                            <a:srgbClr val="1E293B"/>
                          </a:solidFill>
                          <a:latin typeface="Segoe UI" panose="020B0502040204020203" pitchFamily="34" charset="0"/>
                        </a:rPr>
                        <a:t>Thu thập từ Tiki Open API &amp; Web Scraper; nạp file đa định dạng; kiểm tra Data Contract; chuẩn hóa schema trước khi gửi.</a:t>
                      </a:r>
                    </a:p>
                  </a:txBody>
                  <a:tcPr marL="76200" marR="76200" marT="38100" marB="38100">
                    <a:solidFill>
                      <a:srgbClr val="FFFFFF"/>
                    </a:solidFill>
                  </a:tcPr>
                </a:tc>
                <a:extLst>
                  <a:ext uri="{0D108BD9-81ED-4DB2-BD59-A6C34878D82A}">
                    <a16:rowId xmlns:a16="http://schemas.microsoft.com/office/drawing/2014/main" val="2561969328"/>
                  </a:ext>
                </a:extLst>
              </a:tr>
              <a:tr h="606778">
                <a:tc>
                  <a:txBody>
                    <a:bodyPr/>
                    <a:lstStyle/>
                    <a:p>
                      <a:r>
                        <a:rPr lang="da-DK" sz="980" b="1">
                          <a:solidFill>
                            <a:srgbClr val="1E293B"/>
                          </a:solidFill>
                          <a:latin typeface="Segoe UI" panose="020B0502040204020203" pitchFamily="34" charset="0"/>
                        </a:rPr>
                        <a:t>2. Truyền tải luồng
(Message Broker)</a:t>
                      </a:r>
                      <a:endParaRPr lang="vi-VN" sz="980" b="1">
                        <a:solidFill>
                          <a:srgbClr val="1E293B"/>
                        </a:solidFill>
                        <a:latin typeface="Segoe UI" panose="020B0502040204020203" pitchFamily="34" charset="0"/>
                      </a:endParaRPr>
                    </a:p>
                  </a:txBody>
                  <a:tcPr marL="76200" marR="76200" marT="38100" marB="38100">
                    <a:solidFill>
                      <a:srgbClr val="F8FAFC"/>
                    </a:solidFill>
                  </a:tcPr>
                </a:tc>
                <a:tc>
                  <a:txBody>
                    <a:bodyPr/>
                    <a:lstStyle/>
                    <a:p>
                      <a:r>
                        <a:rPr lang="vi-VN" sz="980" b="1">
                          <a:solidFill>
                            <a:srgbClr val="BA0C2F"/>
                          </a:solidFill>
                          <a:latin typeface="Segoe UI" panose="020B0502040204020203" pitchFamily="34" charset="0"/>
                        </a:rPr>
                        <a:t>Apache Kafka 3.7
(KRaft Mode), kafka-python</a:t>
                      </a:r>
                    </a:p>
                  </a:txBody>
                  <a:tcPr marL="76200" marR="76200" marT="38100" marB="38100">
                    <a:solidFill>
                      <a:srgbClr val="F8FAFC"/>
                    </a:solidFill>
                  </a:tcPr>
                </a:tc>
                <a:tc>
                  <a:txBody>
                    <a:bodyPr/>
                    <a:lstStyle/>
                    <a:p>
                      <a:r>
                        <a:rPr lang="vi-VN" sz="980" b="0">
                          <a:solidFill>
                            <a:srgbClr val="1E293B"/>
                          </a:solidFill>
                          <a:latin typeface="Segoe UI" panose="020B0502040204020203" pitchFamily="34" charset="0"/>
                        </a:rPr>
                        <a:t>Tiếp nhận luồng sự kiện tốc độ cao (10-500+ msg/s); phân chia partition; quản lý hàng đợi lỗi Dead-Letter Queue (DLQ).</a:t>
                      </a:r>
                    </a:p>
                  </a:txBody>
                  <a:tcPr marL="76200" marR="76200" marT="38100" marB="38100">
                    <a:solidFill>
                      <a:srgbClr val="F8FAFC"/>
                    </a:solidFill>
                  </a:tcPr>
                </a:tc>
                <a:extLst>
                  <a:ext uri="{0D108BD9-81ED-4DB2-BD59-A6C34878D82A}">
                    <a16:rowId xmlns:a16="http://schemas.microsoft.com/office/drawing/2014/main" val="1234965926"/>
                  </a:ext>
                </a:extLst>
              </a:tr>
              <a:tr h="606778">
                <a:tc>
                  <a:txBody>
                    <a:bodyPr/>
                    <a:lstStyle/>
                    <a:p>
                      <a:r>
                        <a:rPr lang="vi-VN" sz="980" b="1">
                          <a:solidFill>
                            <a:srgbClr val="1E293B"/>
                          </a:solidFill>
                          <a:latin typeface="Segoe UI" panose="020B0502040204020203" pitchFamily="34" charset="0"/>
                        </a:rPr>
                        <a:t>3. Lưu trữ Hồ dữ liệu
(Data Lakehouse)</a:t>
                      </a:r>
                    </a:p>
                  </a:txBody>
                  <a:tcPr marL="76200" marR="76200" marT="38100" marB="38100">
                    <a:solidFill>
                      <a:srgbClr val="FFFFFF"/>
                    </a:solidFill>
                  </a:tcPr>
                </a:tc>
                <a:tc>
                  <a:txBody>
                    <a:bodyPr/>
                    <a:lstStyle/>
                    <a:p>
                      <a:r>
                        <a:rPr lang="pt-BR" sz="980" b="1">
                          <a:solidFill>
                            <a:srgbClr val="BA0C2F"/>
                          </a:solidFill>
                          <a:latin typeface="Segoe UI" panose="020B0502040204020203" pitchFamily="34" charset="0"/>
                        </a:rPr>
                        <a:t>MinIO S3 Lakehouse,
Parquet, Custom _delta_log</a:t>
                      </a:r>
                      <a:endParaRPr lang="vi-VN" sz="980" b="1">
                        <a:solidFill>
                          <a:srgbClr val="BA0C2F"/>
                        </a:solidFill>
                        <a:latin typeface="Segoe UI" panose="020B0502040204020203" pitchFamily="34" charset="0"/>
                      </a:endParaRPr>
                    </a:p>
                  </a:txBody>
                  <a:tcPr marL="76200" marR="76200" marT="38100" marB="38100">
                    <a:solidFill>
                      <a:srgbClr val="FFFFFF"/>
                    </a:solidFill>
                  </a:tcPr>
                </a:tc>
                <a:tc>
                  <a:txBody>
                    <a:bodyPr/>
                    <a:lstStyle/>
                    <a:p>
                      <a:r>
                        <a:rPr lang="vi-VN" sz="980" b="0">
                          <a:solidFill>
                            <a:srgbClr val="1E293B"/>
                          </a:solidFill>
                          <a:latin typeface="Segoe UI" panose="020B0502040204020203" pitchFamily="34" charset="0"/>
                        </a:rPr>
                        <a:t>Lưu trữ kiến trúc Medallion (Bronze Raw - Silver Cleansed - Gold Agg); nén Parquet tối ưu; hỗ trợ ACID &amp; Time Travel.</a:t>
                      </a:r>
                    </a:p>
                  </a:txBody>
                  <a:tcPr marL="76200" marR="76200" marT="38100" marB="38100">
                    <a:solidFill>
                      <a:srgbClr val="FFFFFF"/>
                    </a:solidFill>
                  </a:tcPr>
                </a:tc>
                <a:extLst>
                  <a:ext uri="{0D108BD9-81ED-4DB2-BD59-A6C34878D82A}">
                    <a16:rowId xmlns:a16="http://schemas.microsoft.com/office/drawing/2014/main" val="1978675888"/>
                  </a:ext>
                </a:extLst>
              </a:tr>
              <a:tr h="606778">
                <a:tc>
                  <a:txBody>
                    <a:bodyPr/>
                    <a:lstStyle/>
                    <a:p>
                      <a:r>
                        <a:rPr lang="en-US" sz="980" b="1">
                          <a:solidFill>
                            <a:srgbClr val="1E293B"/>
                          </a:solidFill>
                          <a:latin typeface="Segoe UI" panose="020B0502040204020203" pitchFamily="34" charset="0"/>
                        </a:rPr>
                        <a:t>4. Xử lý phân tán
(Distributed Compute)</a:t>
                      </a:r>
                      <a:endParaRPr lang="vi-VN" sz="980" b="1">
                        <a:solidFill>
                          <a:srgbClr val="1E293B"/>
                        </a:solidFill>
                        <a:latin typeface="Segoe UI" panose="020B0502040204020203" pitchFamily="34" charset="0"/>
                      </a:endParaRPr>
                    </a:p>
                  </a:txBody>
                  <a:tcPr marL="76200" marR="76200" marT="38100" marB="38100">
                    <a:solidFill>
                      <a:srgbClr val="F8FAFC"/>
                    </a:solidFill>
                  </a:tcPr>
                </a:tc>
                <a:tc>
                  <a:txBody>
                    <a:bodyPr/>
                    <a:lstStyle/>
                    <a:p>
                      <a:r>
                        <a:rPr lang="en-US" sz="980" b="1">
                          <a:solidFill>
                            <a:srgbClr val="BA0C2F"/>
                          </a:solidFill>
                          <a:latin typeface="Segoe UI" panose="020B0502040204020203" pitchFamily="34" charset="0"/>
                        </a:rPr>
                        <a:t>Apache Spark 3.5
(PySpark Engine)</a:t>
                      </a:r>
                      <a:endParaRPr lang="vi-VN" sz="980" b="1">
                        <a:solidFill>
                          <a:srgbClr val="BA0C2F"/>
                        </a:solidFill>
                        <a:latin typeface="Segoe UI" panose="020B0502040204020203" pitchFamily="34" charset="0"/>
                      </a:endParaRPr>
                    </a:p>
                  </a:txBody>
                  <a:tcPr marL="76200" marR="76200" marT="38100" marB="38100">
                    <a:solidFill>
                      <a:srgbClr val="F8FAFC"/>
                    </a:solidFill>
                  </a:tcPr>
                </a:tc>
                <a:tc>
                  <a:txBody>
                    <a:bodyPr/>
                    <a:lstStyle/>
                    <a:p>
                      <a:r>
                        <a:rPr lang="vi-VN" sz="980" b="0">
                          <a:solidFill>
                            <a:srgbClr val="1E293B"/>
                          </a:solidFill>
                          <a:latin typeface="Segoe UI" panose="020B0502040204020203" pitchFamily="34" charset="0"/>
                        </a:rPr>
                        <a:t>Phân tán tính toán ETL hàng loạt (Batch); chấm điểm Data Quality Scoring; xử lý cửa sổ trượt Structured Streaming.</a:t>
                      </a:r>
                    </a:p>
                  </a:txBody>
                  <a:tcPr marL="76200" marR="76200" marT="38100" marB="38100">
                    <a:solidFill>
                      <a:srgbClr val="F8FAFC"/>
                    </a:solidFill>
                  </a:tcPr>
                </a:tc>
                <a:extLst>
                  <a:ext uri="{0D108BD9-81ED-4DB2-BD59-A6C34878D82A}">
                    <a16:rowId xmlns:a16="http://schemas.microsoft.com/office/drawing/2014/main" val="437630150"/>
                  </a:ext>
                </a:extLst>
              </a:tr>
              <a:tr h="606778">
                <a:tc>
                  <a:txBody>
                    <a:bodyPr/>
                    <a:lstStyle/>
                    <a:p>
                      <a:r>
                        <a:rPr lang="vi-VN" sz="980" b="1">
                          <a:solidFill>
                            <a:srgbClr val="1E293B"/>
                          </a:solidFill>
                          <a:latin typeface="Segoe UI" panose="020B0502040204020203" pitchFamily="34" charset="0"/>
                        </a:rPr>
                        <a:t>5. Kho dữ liệu &amp; Tìm kiếm
(Serving Layer)</a:t>
                      </a:r>
                    </a:p>
                  </a:txBody>
                  <a:tcPr marL="76200" marR="76200" marT="38100" marB="38100">
                    <a:solidFill>
                      <a:srgbClr val="FFFFFF"/>
                    </a:solidFill>
                  </a:tcPr>
                </a:tc>
                <a:tc>
                  <a:txBody>
                    <a:bodyPr/>
                    <a:lstStyle/>
                    <a:p>
                      <a:r>
                        <a:rPr lang="vi-VN" sz="980" b="1">
                          <a:solidFill>
                            <a:srgbClr val="BA0C2F"/>
                          </a:solidFill>
                          <a:latin typeface="Segoe UI" panose="020B0502040204020203" pitchFamily="34" charset="0"/>
                        </a:rPr>
                        <a:t>PostgreSQL 16,
Elasticsearch 8.13</a:t>
                      </a:r>
                    </a:p>
                  </a:txBody>
                  <a:tcPr marL="76200" marR="76200" marT="38100" marB="38100">
                    <a:solidFill>
                      <a:srgbClr val="FFFFFF"/>
                    </a:solidFill>
                  </a:tcPr>
                </a:tc>
                <a:tc>
                  <a:txBody>
                    <a:bodyPr/>
                    <a:lstStyle/>
                    <a:p>
                      <a:r>
                        <a:rPr lang="vi-VN" sz="980" b="0">
                          <a:solidFill>
                            <a:srgbClr val="1E293B"/>
                          </a:solidFill>
                          <a:latin typeface="Segoe UI" panose="020B0502040204020203" pitchFamily="34" charset="0"/>
                        </a:rPr>
                        <a:t>PostgreSQL làm Data Warehouse quan hệ lưu số liệu tổng hợp; Elasticsearch cung cấp tìm kiếm toàn văn và lọc chỉ mục tốc độ cao.</a:t>
                      </a:r>
                    </a:p>
                  </a:txBody>
                  <a:tcPr marL="76200" marR="76200" marT="38100" marB="38100">
                    <a:solidFill>
                      <a:srgbClr val="FFFFFF"/>
                    </a:solidFill>
                  </a:tcPr>
                </a:tc>
                <a:extLst>
                  <a:ext uri="{0D108BD9-81ED-4DB2-BD59-A6C34878D82A}">
                    <a16:rowId xmlns:a16="http://schemas.microsoft.com/office/drawing/2014/main" val="1607306126"/>
                  </a:ext>
                </a:extLst>
              </a:tr>
              <a:tr h="606778">
                <a:tc>
                  <a:txBody>
                    <a:bodyPr/>
                    <a:lstStyle/>
                    <a:p>
                      <a:r>
                        <a:rPr lang="vi-VN" sz="980" b="1">
                          <a:solidFill>
                            <a:srgbClr val="1E293B"/>
                          </a:solidFill>
                          <a:latin typeface="Segoe UI" panose="020B0502040204020203" pitchFamily="34" charset="0"/>
                        </a:rPr>
                        <a:t>6. Phát hiện bất thường
(Analytics Engine)</a:t>
                      </a:r>
                    </a:p>
                  </a:txBody>
                  <a:tcPr marL="76200" marR="76200" marT="38100" marB="38100">
                    <a:solidFill>
                      <a:srgbClr val="F8FAFC"/>
                    </a:solidFill>
                  </a:tcPr>
                </a:tc>
                <a:tc>
                  <a:txBody>
                    <a:bodyPr/>
                    <a:lstStyle/>
                    <a:p>
                      <a:r>
                        <a:rPr lang="vi-VN" sz="980" b="1">
                          <a:solidFill>
                            <a:srgbClr val="BA0C2F"/>
                          </a:solidFill>
                          <a:latin typeface="Segoe UI" panose="020B0502040204020203" pitchFamily="34" charset="0"/>
                        </a:rPr>
                        <a:t>PySpark SQL, NumPy,
Pandas, SciPy</a:t>
                      </a:r>
                    </a:p>
                  </a:txBody>
                  <a:tcPr marL="76200" marR="76200" marT="38100" marB="38100">
                    <a:solidFill>
                      <a:srgbClr val="F8FAFC"/>
                    </a:solidFill>
                  </a:tcPr>
                </a:tc>
                <a:tc>
                  <a:txBody>
                    <a:bodyPr/>
                    <a:lstStyle/>
                    <a:p>
                      <a:r>
                        <a:rPr lang="vi-VN" sz="980" b="0">
                          <a:solidFill>
                            <a:srgbClr val="1E293B"/>
                          </a:solidFill>
                          <a:latin typeface="Segoe UI" panose="020B0502040204020203" pitchFamily="34" charset="0"/>
                        </a:rPr>
                        <a:t>Cài đặt thuật toán thống kê: Z-score, IQR (Interquartile Range), </a:t>
                      </a:r>
                      <a:r>
                        <a:rPr lang="el-GR" sz="980" b="0">
                          <a:solidFill>
                            <a:srgbClr val="1E293B"/>
                          </a:solidFill>
                          <a:latin typeface="Segoe UI" panose="020B0502040204020203" pitchFamily="34" charset="0"/>
                        </a:rPr>
                        <a:t>μ + </a:t>
                      </a:r>
                      <a:r>
                        <a:rPr lang="vi-VN" sz="980" b="0">
                          <a:solidFill>
                            <a:srgbClr val="1E293B"/>
                          </a:solidFill>
                          <a:latin typeface="Segoe UI" panose="020B0502040204020203" pitchFamily="34" charset="0"/>
                        </a:rPr>
                        <a:t>k</a:t>
                      </a:r>
                      <a:r>
                        <a:rPr lang="el-GR" sz="980" b="0">
                          <a:solidFill>
                            <a:srgbClr val="1E293B"/>
                          </a:solidFill>
                          <a:latin typeface="Segoe UI" panose="020B0502040204020203" pitchFamily="34" charset="0"/>
                        </a:rPr>
                        <a:t>σ (</a:t>
                      </a:r>
                      <a:r>
                        <a:rPr lang="vi-VN" sz="980" b="0">
                          <a:solidFill>
                            <a:srgbClr val="1E293B"/>
                          </a:solidFill>
                          <a:latin typeface="Segoe UI" panose="020B0502040204020203" pitchFamily="34" charset="0"/>
                        </a:rPr>
                        <a:t>Mean ± Std), Rolling Window % Change...</a:t>
                      </a:r>
                    </a:p>
                  </a:txBody>
                  <a:tcPr marL="76200" marR="76200" marT="38100" marB="38100">
                    <a:solidFill>
                      <a:srgbClr val="F8FAFC"/>
                    </a:solidFill>
                  </a:tcPr>
                </a:tc>
                <a:extLst>
                  <a:ext uri="{0D108BD9-81ED-4DB2-BD59-A6C34878D82A}">
                    <a16:rowId xmlns:a16="http://schemas.microsoft.com/office/drawing/2014/main" val="2129556850"/>
                  </a:ext>
                </a:extLst>
              </a:tr>
              <a:tr h="606778">
                <a:tc>
                  <a:txBody>
                    <a:bodyPr/>
                    <a:lstStyle/>
                    <a:p>
                      <a:r>
                        <a:rPr lang="vi-VN" sz="980" b="1">
                          <a:solidFill>
                            <a:srgbClr val="1E293B"/>
                          </a:solidFill>
                          <a:latin typeface="Segoe UI" panose="020B0502040204020203" pitchFamily="34" charset="0"/>
                        </a:rPr>
                        <a:t>7. Trực quan hóa dữ liệu
(BI Dashboard)</a:t>
                      </a:r>
                    </a:p>
                  </a:txBody>
                  <a:tcPr marL="76200" marR="76200" marT="38100" marB="38100">
                    <a:solidFill>
                      <a:srgbClr val="FFFFFF"/>
                    </a:solidFill>
                  </a:tcPr>
                </a:tc>
                <a:tc>
                  <a:txBody>
                    <a:bodyPr/>
                    <a:lstStyle/>
                    <a:p>
                      <a:r>
                        <a:rPr lang="en-US" sz="980" b="1">
                          <a:solidFill>
                            <a:srgbClr val="BA0C2F"/>
                          </a:solidFill>
                          <a:latin typeface="Segoe UI" panose="020B0502040204020203" pitchFamily="34" charset="0"/>
                        </a:rPr>
                        <a:t>Streamlit Framework,
Plotly Interactive Charts</a:t>
                      </a:r>
                      <a:endParaRPr lang="vi-VN" sz="980" b="1">
                        <a:solidFill>
                          <a:srgbClr val="BA0C2F"/>
                        </a:solidFill>
                        <a:latin typeface="Segoe UI" panose="020B0502040204020203" pitchFamily="34" charset="0"/>
                      </a:endParaRPr>
                    </a:p>
                  </a:txBody>
                  <a:tcPr marL="76200" marR="76200" marT="38100" marB="38100">
                    <a:solidFill>
                      <a:srgbClr val="FFFFFF"/>
                    </a:solidFill>
                  </a:tcPr>
                </a:tc>
                <a:tc>
                  <a:txBody>
                    <a:bodyPr/>
                    <a:lstStyle/>
                    <a:p>
                      <a:r>
                        <a:rPr lang="vi-VN" sz="980" b="0">
                          <a:solidFill>
                            <a:srgbClr val="1E293B"/>
                          </a:solidFill>
                          <a:latin typeface="Segoe UI" panose="020B0502040204020203" pitchFamily="34" charset="0"/>
                        </a:rPr>
                        <a:t>Xây dựng Dashboard 7 trang: tổng quan thị trường, biến động giá, phân tích đánh giá, cảnh báo bất thường &amp; Data Quality.</a:t>
                      </a:r>
                    </a:p>
                  </a:txBody>
                  <a:tcPr marL="76200" marR="76200" marT="38100" marB="38100">
                    <a:solidFill>
                      <a:srgbClr val="FFFFFF"/>
                    </a:solidFill>
                  </a:tcPr>
                </a:tc>
                <a:extLst>
                  <a:ext uri="{0D108BD9-81ED-4DB2-BD59-A6C34878D82A}">
                    <a16:rowId xmlns:a16="http://schemas.microsoft.com/office/drawing/2014/main" val="3801827215"/>
                  </a:ext>
                </a:extLst>
              </a:tr>
              <a:tr h="606778">
                <a:tc>
                  <a:txBody>
                    <a:bodyPr/>
                    <a:lstStyle/>
                    <a:p>
                      <a:r>
                        <a:rPr lang="vi-VN" sz="980" b="1">
                          <a:solidFill>
                            <a:srgbClr val="1E293B"/>
                          </a:solidFill>
                          <a:latin typeface="Segoe UI" panose="020B0502040204020203" pitchFamily="34" charset="0"/>
                        </a:rPr>
                        <a:t>8. Điều phối &amp; Giám sát
(Orchestration &amp; Ops)</a:t>
                      </a:r>
                    </a:p>
                  </a:txBody>
                  <a:tcPr marL="76200" marR="76200" marT="38100" marB="38100">
                    <a:solidFill>
                      <a:srgbClr val="F8FAFC"/>
                    </a:solidFill>
                  </a:tcPr>
                </a:tc>
                <a:tc>
                  <a:txBody>
                    <a:bodyPr/>
                    <a:lstStyle/>
                    <a:p>
                      <a:r>
                        <a:rPr lang="vi-VN" sz="980" b="1">
                          <a:solidFill>
                            <a:srgbClr val="BA0C2F"/>
                          </a:solidFill>
                          <a:latin typeface="Segoe UI" panose="020B0502040204020203" pitchFamily="34" charset="0"/>
                        </a:rPr>
                        <a:t>Apache Airflow, Prometheus,
Grafana, Pytest Suite</a:t>
                      </a:r>
                    </a:p>
                  </a:txBody>
                  <a:tcPr marL="76200" marR="76200" marT="38100" marB="38100">
                    <a:solidFill>
                      <a:srgbClr val="F8FAFC"/>
                    </a:solidFill>
                  </a:tcPr>
                </a:tc>
                <a:tc>
                  <a:txBody>
                    <a:bodyPr/>
                    <a:lstStyle/>
                    <a:p>
                      <a:r>
                        <a:rPr lang="vi-VN" sz="980" b="0">
                          <a:solidFill>
                            <a:srgbClr val="1E293B"/>
                          </a:solidFill>
                          <a:latin typeface="Segoe UI" panose="020B0502040204020203" pitchFamily="34" charset="0"/>
                        </a:rPr>
                        <a:t>Tự động hóa pipeline định kỳ; giám sát metrics hệ thống thời gian thực; bộ 65+ kịch bản unit &amp; integration tests tự động.</a:t>
                      </a:r>
                    </a:p>
                  </a:txBody>
                  <a:tcPr marL="76200" marR="76200" marT="38100" marB="38100">
                    <a:solidFill>
                      <a:srgbClr val="F8FAFC"/>
                    </a:solidFill>
                  </a:tcPr>
                </a:tc>
                <a:extLst>
                  <a:ext uri="{0D108BD9-81ED-4DB2-BD59-A6C34878D82A}">
                    <a16:rowId xmlns:a16="http://schemas.microsoft.com/office/drawing/2014/main" val="258071582"/>
                  </a:ext>
                </a:extLst>
              </a:tr>
            </a:tbl>
          </a:graphicData>
        </a:graphic>
      </p:graphicFrame>
    </p:spTree>
    <p:extLst>
      <p:ext uri="{BB962C8B-B14F-4D97-AF65-F5344CB8AC3E}">
        <p14:creationId xmlns:p14="http://schemas.microsoft.com/office/powerpoint/2010/main" val="2298281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B5EDF7-3CFB-461A-51ED-8E7AA73BE0ED}"/>
              </a:ext>
            </a:extLst>
          </p:cNvPr>
          <p:cNvSpPr>
            <a:spLocks noGrp="1"/>
          </p:cNvSpPr>
          <p:nvPr>
            <p:ph type="sldNum" sz="quarter" idx="12"/>
          </p:nvPr>
        </p:nvSpPr>
        <p:spPr/>
        <p:txBody>
          <a:bodyPr/>
          <a:lstStyle/>
          <a:p>
            <a:r>
              <a:rPr lang="en-US">
                <a:solidFill>
                  <a:srgbClr val="BA0C2F"/>
                </a:solidFill>
                <a:latin typeface="Segoe UI" panose="020B0502040204020203" pitchFamily="34" charset="0"/>
              </a:rPr>
              <a:t>4</a:t>
            </a:r>
            <a:endParaRPr lang="en-US" dirty="0">
              <a:solidFill>
                <a:srgbClr val="BA0C2F"/>
              </a:solidFill>
              <a:latin typeface="Segoe UI" panose="020B0502040204020203" pitchFamily="34" charset="0"/>
            </a:endParaRPr>
          </a:p>
        </p:txBody>
      </p:sp>
      <p:sp>
        <p:nvSpPr>
          <p:cNvPr id="3" name="Title 2">
            <a:extLst>
              <a:ext uri="{FF2B5EF4-FFF2-40B4-BE49-F238E27FC236}">
                <a16:creationId xmlns:a16="http://schemas.microsoft.com/office/drawing/2014/main" id="{4562A59F-8023-96C6-D593-07436694F5DE}"/>
              </a:ext>
            </a:extLst>
          </p:cNvPr>
          <p:cNvSpPr>
            <a:spLocks noGrp="1"/>
          </p:cNvSpPr>
          <p:nvPr>
            <p:ph type="title"/>
          </p:nvPr>
        </p:nvSpPr>
        <p:spPr/>
        <p:txBody>
          <a:bodyPr/>
          <a:lstStyle/>
          <a:p>
            <a:r>
              <a:rPr lang="vi-VN" sz="2000">
                <a:solidFill>
                  <a:srgbClr val="FFFFFF"/>
                </a:solidFill>
                <a:latin typeface="Segoe UI" panose="020B0502040204020203" pitchFamily="34" charset="0"/>
              </a:rPr>
              <a:t>4. KIẾN TRÚC TỔNG THỂ HỆ THỐNG</a:t>
            </a:r>
          </a:p>
        </p:txBody>
      </p:sp>
      <p:sp>
        <p:nvSpPr>
          <p:cNvPr id="5" name="Rectangle: Rounded Corners 4">
            <a:extLst>
              <a:ext uri="{FF2B5EF4-FFF2-40B4-BE49-F238E27FC236}">
                <a16:creationId xmlns:a16="http://schemas.microsoft.com/office/drawing/2014/main" id="{7D7C8AF3-645D-50B4-684E-01B1B7E95636}"/>
              </a:ext>
            </a:extLst>
          </p:cNvPr>
          <p:cNvSpPr/>
          <p:nvPr/>
        </p:nvSpPr>
        <p:spPr>
          <a:xfrm>
            <a:off x="381000" y="736600"/>
            <a:ext cx="1651000" cy="44450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ectangle: Rounded Corners 5">
            <a:extLst>
              <a:ext uri="{FF2B5EF4-FFF2-40B4-BE49-F238E27FC236}">
                <a16:creationId xmlns:a16="http://schemas.microsoft.com/office/drawing/2014/main" id="{2502B716-214C-A4B9-370A-7B56292B92AD}"/>
              </a:ext>
            </a:extLst>
          </p:cNvPr>
          <p:cNvSpPr/>
          <p:nvPr/>
        </p:nvSpPr>
        <p:spPr>
          <a:xfrm>
            <a:off x="381000" y="736600"/>
            <a:ext cx="1651000" cy="330200"/>
          </a:xfrm>
          <a:prstGeom prst="round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INGESTION</a:t>
            </a:r>
          </a:p>
        </p:txBody>
      </p:sp>
      <p:sp>
        <p:nvSpPr>
          <p:cNvPr id="7" name="Rectangle: Rounded Corners 6">
            <a:extLst>
              <a:ext uri="{FF2B5EF4-FFF2-40B4-BE49-F238E27FC236}">
                <a16:creationId xmlns:a16="http://schemas.microsoft.com/office/drawing/2014/main" id="{8802317F-C7A7-D6EB-3CE1-5962CCAA3147}"/>
              </a:ext>
            </a:extLst>
          </p:cNvPr>
          <p:cNvSpPr/>
          <p:nvPr/>
        </p:nvSpPr>
        <p:spPr>
          <a:xfrm>
            <a:off x="457200" y="1168400"/>
            <a:ext cx="1498600" cy="889000"/>
          </a:xfrm>
          <a:prstGeom prst="roundRect">
            <a:avLst/>
          </a:prstGeom>
          <a:solidFill>
            <a:srgbClr val="FFFFFF"/>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extBox 7">
            <a:extLst>
              <a:ext uri="{FF2B5EF4-FFF2-40B4-BE49-F238E27FC236}">
                <a16:creationId xmlns:a16="http://schemas.microsoft.com/office/drawing/2014/main" id="{65ACECEC-CD82-1666-7F6C-84820117BDE1}"/>
              </a:ext>
            </a:extLst>
          </p:cNvPr>
          <p:cNvSpPr txBox="1"/>
          <p:nvPr/>
        </p:nvSpPr>
        <p:spPr>
          <a:xfrm>
            <a:off x="508000" y="1219200"/>
            <a:ext cx="1397000" cy="592983"/>
          </a:xfrm>
          <a:prstGeom prst="rect">
            <a:avLst/>
          </a:prstGeom>
          <a:noFill/>
        </p:spPr>
        <p:txBody>
          <a:bodyPr vert="horz" wrap="square" lIns="25400" tIns="25400" rIns="25400" bIns="25400" rtlCol="0">
            <a:spAutoFit/>
          </a:bodyPr>
          <a:lstStyle/>
          <a:p>
            <a:r>
              <a:rPr lang="en-US" sz="880">
                <a:solidFill>
                  <a:srgbClr val="1E293B"/>
                </a:solidFill>
                <a:latin typeface="Segoe UI" panose="020B0502040204020203" pitchFamily="34" charset="0"/>
              </a:rPr>
              <a:t>🛒 TIKI OPEN API
• REST API crawler
• Products &amp; prices
• JSON format</a:t>
            </a:r>
            <a:endParaRPr lang="vi-VN" sz="880">
              <a:solidFill>
                <a:srgbClr val="1E293B"/>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4569A4B2-8795-07C3-0553-D03DEBB587A6}"/>
              </a:ext>
            </a:extLst>
          </p:cNvPr>
          <p:cNvSpPr/>
          <p:nvPr/>
        </p:nvSpPr>
        <p:spPr>
          <a:xfrm>
            <a:off x="457200" y="2159000"/>
            <a:ext cx="1498600" cy="889000"/>
          </a:xfrm>
          <a:prstGeom prst="roundRect">
            <a:avLst/>
          </a:prstGeom>
          <a:solidFill>
            <a:srgbClr val="FFFFFF"/>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TextBox 9">
            <a:extLst>
              <a:ext uri="{FF2B5EF4-FFF2-40B4-BE49-F238E27FC236}">
                <a16:creationId xmlns:a16="http://schemas.microsoft.com/office/drawing/2014/main" id="{8937F425-BBA2-6490-0693-B9729D12B77D}"/>
              </a:ext>
            </a:extLst>
          </p:cNvPr>
          <p:cNvSpPr txBox="1"/>
          <p:nvPr/>
        </p:nvSpPr>
        <p:spPr>
          <a:xfrm>
            <a:off x="508000" y="2209800"/>
            <a:ext cx="1397000" cy="592983"/>
          </a:xfrm>
          <a:prstGeom prst="rect">
            <a:avLst/>
          </a:prstGeom>
          <a:noFill/>
        </p:spPr>
        <p:txBody>
          <a:bodyPr vert="horz" wrap="square" lIns="25400" tIns="25400" rIns="25400" bIns="25400" rtlCol="0">
            <a:spAutoFit/>
          </a:bodyPr>
          <a:lstStyle/>
          <a:p>
            <a:r>
              <a:rPr lang="vi-VN" sz="880">
                <a:solidFill>
                  <a:srgbClr val="1E293B"/>
                </a:solidFill>
                <a:latin typeface="Segoe UI" panose="020B0502040204020203" pitchFamily="34" charset="0"/>
              </a:rPr>
              <a:t>🌐 WEB CRAWLER
• BeautifulSoup/Req
• Rate limit + Retry
• Robots.txt comply</a:t>
            </a:r>
          </a:p>
        </p:txBody>
      </p:sp>
      <p:sp>
        <p:nvSpPr>
          <p:cNvPr id="11" name="Rectangle: Rounded Corners 10">
            <a:extLst>
              <a:ext uri="{FF2B5EF4-FFF2-40B4-BE49-F238E27FC236}">
                <a16:creationId xmlns:a16="http://schemas.microsoft.com/office/drawing/2014/main" id="{9442D30A-86DA-49FC-9BD2-3446B5980B4B}"/>
              </a:ext>
            </a:extLst>
          </p:cNvPr>
          <p:cNvSpPr/>
          <p:nvPr/>
        </p:nvSpPr>
        <p:spPr>
          <a:xfrm>
            <a:off x="457200" y="3149600"/>
            <a:ext cx="1498600" cy="914400"/>
          </a:xfrm>
          <a:prstGeom prst="roundRect">
            <a:avLst/>
          </a:prstGeom>
          <a:solidFill>
            <a:srgbClr val="FFFFFF"/>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TextBox 11">
            <a:extLst>
              <a:ext uri="{FF2B5EF4-FFF2-40B4-BE49-F238E27FC236}">
                <a16:creationId xmlns:a16="http://schemas.microsoft.com/office/drawing/2014/main" id="{949A1917-D1EA-AFD7-FC03-AF1F740D1FE5}"/>
              </a:ext>
            </a:extLst>
          </p:cNvPr>
          <p:cNvSpPr txBox="1"/>
          <p:nvPr/>
        </p:nvSpPr>
        <p:spPr>
          <a:xfrm>
            <a:off x="508000" y="3200400"/>
            <a:ext cx="1397000" cy="592983"/>
          </a:xfrm>
          <a:prstGeom prst="rect">
            <a:avLst/>
          </a:prstGeom>
          <a:noFill/>
        </p:spPr>
        <p:txBody>
          <a:bodyPr vert="horz" wrap="square" lIns="25400" tIns="25400" rIns="25400" bIns="25400" rtlCol="0">
            <a:spAutoFit/>
          </a:bodyPr>
          <a:lstStyle/>
          <a:p>
            <a:r>
              <a:rPr lang="vi-VN" sz="880">
                <a:solidFill>
                  <a:srgbClr val="1E293B"/>
                </a:solidFill>
                <a:latin typeface="Segoe UI" panose="020B0502040204020203" pitchFamily="34" charset="0"/>
              </a:rPr>
              <a:t>📁 DATASETS
• CSV/JSON/Parquet
• Historical archive
• 100K - 1M+ rows</a:t>
            </a:r>
          </a:p>
        </p:txBody>
      </p:sp>
      <p:sp>
        <p:nvSpPr>
          <p:cNvPr id="13" name="Rectangle: Rounded Corners 12">
            <a:extLst>
              <a:ext uri="{FF2B5EF4-FFF2-40B4-BE49-F238E27FC236}">
                <a16:creationId xmlns:a16="http://schemas.microsoft.com/office/drawing/2014/main" id="{62047CC6-2781-244D-7121-DC7FE009B645}"/>
              </a:ext>
            </a:extLst>
          </p:cNvPr>
          <p:cNvSpPr/>
          <p:nvPr/>
        </p:nvSpPr>
        <p:spPr>
          <a:xfrm>
            <a:off x="457200" y="4165600"/>
            <a:ext cx="1498600" cy="889000"/>
          </a:xfrm>
          <a:prstGeom prst="roundRect">
            <a:avLst/>
          </a:prstGeom>
          <a:solidFill>
            <a:srgbClr val="FFFFFF"/>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TextBox 13">
            <a:extLst>
              <a:ext uri="{FF2B5EF4-FFF2-40B4-BE49-F238E27FC236}">
                <a16:creationId xmlns:a16="http://schemas.microsoft.com/office/drawing/2014/main" id="{72FD6268-70B1-FA08-2491-84F7D6B23F1E}"/>
              </a:ext>
            </a:extLst>
          </p:cNvPr>
          <p:cNvSpPr txBox="1"/>
          <p:nvPr/>
        </p:nvSpPr>
        <p:spPr>
          <a:xfrm>
            <a:off x="508000" y="4216400"/>
            <a:ext cx="1397000" cy="592983"/>
          </a:xfrm>
          <a:prstGeom prst="rect">
            <a:avLst/>
          </a:prstGeom>
          <a:noFill/>
        </p:spPr>
        <p:txBody>
          <a:bodyPr vert="horz" wrap="square" lIns="25400" tIns="25400" rIns="25400" bIns="25400" rtlCol="0">
            <a:spAutoFit/>
          </a:bodyPr>
          <a:lstStyle/>
          <a:p>
            <a:r>
              <a:rPr lang="en-US" sz="880">
                <a:solidFill>
                  <a:srgbClr val="1E293B"/>
                </a:solidFill>
                <a:latin typeface="Segoe UI" panose="020B0502040204020203" pitchFamily="34" charset="0"/>
              </a:rPr>
              <a:t>⏱️ SIMULATION
• Historical replay
• 10-1.000 msg/s
• Real-time mock</a:t>
            </a:r>
            <a:endParaRPr lang="vi-VN" sz="880">
              <a:solidFill>
                <a:srgbClr val="1E293B"/>
              </a:solidFill>
              <a:latin typeface="Segoe UI" panose="020B0502040204020203" pitchFamily="34" charset="0"/>
            </a:endParaRPr>
          </a:p>
        </p:txBody>
      </p:sp>
      <p:sp>
        <p:nvSpPr>
          <p:cNvPr id="15" name="Cylinder 14">
            <a:extLst>
              <a:ext uri="{FF2B5EF4-FFF2-40B4-BE49-F238E27FC236}">
                <a16:creationId xmlns:a16="http://schemas.microsoft.com/office/drawing/2014/main" id="{C9390C75-BD33-2960-E07C-BC75DEC510B4}"/>
              </a:ext>
            </a:extLst>
          </p:cNvPr>
          <p:cNvSpPr/>
          <p:nvPr/>
        </p:nvSpPr>
        <p:spPr>
          <a:xfrm>
            <a:off x="2070100" y="2857500"/>
            <a:ext cx="152400" cy="127000"/>
          </a:xfrm>
          <a:prstGeom prst="can">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Rectangle: Rounded Corners 15">
            <a:extLst>
              <a:ext uri="{FF2B5EF4-FFF2-40B4-BE49-F238E27FC236}">
                <a16:creationId xmlns:a16="http://schemas.microsoft.com/office/drawing/2014/main" id="{853E96C0-578D-EF44-4CD9-342C1EACD8D5}"/>
              </a:ext>
            </a:extLst>
          </p:cNvPr>
          <p:cNvSpPr/>
          <p:nvPr/>
        </p:nvSpPr>
        <p:spPr>
          <a:xfrm>
            <a:off x="2260600" y="736600"/>
            <a:ext cx="1460500" cy="44450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Rectangle: Rounded Corners 16">
            <a:extLst>
              <a:ext uri="{FF2B5EF4-FFF2-40B4-BE49-F238E27FC236}">
                <a16:creationId xmlns:a16="http://schemas.microsoft.com/office/drawing/2014/main" id="{8AF00DCD-ECDE-7BAB-3046-B7CFDDAA09F8}"/>
              </a:ext>
            </a:extLst>
          </p:cNvPr>
          <p:cNvSpPr/>
          <p:nvPr/>
        </p:nvSpPr>
        <p:spPr>
          <a:xfrm>
            <a:off x="2260600" y="736600"/>
            <a:ext cx="1460500" cy="330200"/>
          </a:xfrm>
          <a:prstGeom prst="roundRect">
            <a:avLst/>
          </a:prstGeom>
          <a:solidFill>
            <a:srgbClr val="D9770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STREAMING</a:t>
            </a:r>
          </a:p>
        </p:txBody>
      </p:sp>
      <p:sp>
        <p:nvSpPr>
          <p:cNvPr id="18" name="Rectangle: Rounded Corners 17">
            <a:extLst>
              <a:ext uri="{FF2B5EF4-FFF2-40B4-BE49-F238E27FC236}">
                <a16:creationId xmlns:a16="http://schemas.microsoft.com/office/drawing/2014/main" id="{4FD4D61F-5569-1D3C-F667-9FBBA926CDB3}"/>
              </a:ext>
            </a:extLst>
          </p:cNvPr>
          <p:cNvSpPr/>
          <p:nvPr/>
        </p:nvSpPr>
        <p:spPr>
          <a:xfrm>
            <a:off x="2336800" y="1168400"/>
            <a:ext cx="1308100" cy="14986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TextBox 18">
            <a:extLst>
              <a:ext uri="{FF2B5EF4-FFF2-40B4-BE49-F238E27FC236}">
                <a16:creationId xmlns:a16="http://schemas.microsoft.com/office/drawing/2014/main" id="{E8C6FA60-7FEC-7B78-AF32-CE593DD0744B}"/>
              </a:ext>
            </a:extLst>
          </p:cNvPr>
          <p:cNvSpPr txBox="1"/>
          <p:nvPr/>
        </p:nvSpPr>
        <p:spPr>
          <a:xfrm>
            <a:off x="2387600" y="1219200"/>
            <a:ext cx="1206500" cy="882293"/>
          </a:xfrm>
          <a:prstGeom prst="rect">
            <a:avLst/>
          </a:prstGeom>
          <a:noFill/>
        </p:spPr>
        <p:txBody>
          <a:bodyPr vert="horz" wrap="square" lIns="25400" tIns="25400" rIns="25400" bIns="25400" rtlCol="0">
            <a:spAutoFit/>
          </a:bodyPr>
          <a:lstStyle/>
          <a:p>
            <a:r>
              <a:rPr lang="en-US" sz="900" dirty="0">
                <a:solidFill>
                  <a:srgbClr val="1E293B"/>
                </a:solidFill>
                <a:latin typeface="Segoe UI" panose="020B0502040204020203" pitchFamily="34" charset="0"/>
              </a:rPr>
              <a:t>⚡ APACHE KAFKA
• Version 3.7
• </a:t>
            </a:r>
            <a:r>
              <a:rPr lang="en-US" sz="900" dirty="0" err="1">
                <a:solidFill>
                  <a:srgbClr val="1E293B"/>
                </a:solidFill>
                <a:latin typeface="Segoe UI" panose="020B0502040204020203" pitchFamily="34" charset="0"/>
              </a:rPr>
              <a:t>KRaft</a:t>
            </a:r>
            <a:r>
              <a:rPr lang="en-US" sz="900" dirty="0">
                <a:solidFill>
                  <a:srgbClr val="1E293B"/>
                </a:solidFill>
                <a:latin typeface="Segoe UI" panose="020B0502040204020203" pitchFamily="34" charset="0"/>
              </a:rPr>
              <a:t> Mode
(No </a:t>
            </a:r>
            <a:r>
              <a:rPr lang="en-US" sz="900" dirty="0" err="1">
                <a:solidFill>
                  <a:srgbClr val="1E293B"/>
                </a:solidFill>
                <a:latin typeface="Segoe UI" panose="020B0502040204020203" pitchFamily="34" charset="0"/>
              </a:rPr>
              <a:t>ZooKeeper</a:t>
            </a:r>
            <a:r>
              <a:rPr lang="en-US" sz="900" dirty="0">
                <a:solidFill>
                  <a:srgbClr val="1E293B"/>
                </a:solidFill>
                <a:latin typeface="Segoe UI" panose="020B0502040204020203" pitchFamily="34" charset="0"/>
              </a:rPr>
              <a:t>)
• High throughput
• Low latency</a:t>
            </a:r>
            <a:endParaRPr lang="vi-VN" sz="900" dirty="0">
              <a:solidFill>
                <a:srgbClr val="1E293B"/>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FE3A09B5-BFC8-B305-01B6-E86EC7674FE4}"/>
              </a:ext>
            </a:extLst>
          </p:cNvPr>
          <p:cNvSpPr/>
          <p:nvPr/>
        </p:nvSpPr>
        <p:spPr>
          <a:xfrm>
            <a:off x="2336800" y="2768600"/>
            <a:ext cx="1308100" cy="13716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TextBox 20">
            <a:extLst>
              <a:ext uri="{FF2B5EF4-FFF2-40B4-BE49-F238E27FC236}">
                <a16:creationId xmlns:a16="http://schemas.microsoft.com/office/drawing/2014/main" id="{8861A471-057D-800A-9519-C8BF433F058F}"/>
              </a:ext>
            </a:extLst>
          </p:cNvPr>
          <p:cNvSpPr txBox="1"/>
          <p:nvPr/>
        </p:nvSpPr>
        <p:spPr>
          <a:xfrm>
            <a:off x="2387600" y="2819400"/>
            <a:ext cx="1206500" cy="743793"/>
          </a:xfrm>
          <a:prstGeom prst="rect">
            <a:avLst/>
          </a:prstGeom>
          <a:noFill/>
        </p:spPr>
        <p:txBody>
          <a:bodyPr vert="horz" wrap="square" lIns="25400" tIns="25400" rIns="25400" bIns="25400" rtlCol="0">
            <a:spAutoFit/>
          </a:bodyPr>
          <a:lstStyle/>
          <a:p>
            <a:r>
              <a:rPr lang="en-US" sz="900">
                <a:solidFill>
                  <a:srgbClr val="1E293B"/>
                </a:solidFill>
                <a:latin typeface="Segoe UI" panose="020B0502040204020203" pitchFamily="34" charset="0"/>
              </a:rPr>
              <a:t>📨 TOPICS
• raw.products
• raw.reviews
• raw.prices
• raw.events</a:t>
            </a:r>
            <a:endParaRPr lang="vi-VN" sz="900">
              <a:solidFill>
                <a:srgbClr val="1E293B"/>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83CCFC86-F590-8F7D-6B85-02B595756EEA}"/>
              </a:ext>
            </a:extLst>
          </p:cNvPr>
          <p:cNvSpPr/>
          <p:nvPr/>
        </p:nvSpPr>
        <p:spPr>
          <a:xfrm>
            <a:off x="2336800" y="4241800"/>
            <a:ext cx="1308100" cy="8128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TextBox 22">
            <a:extLst>
              <a:ext uri="{FF2B5EF4-FFF2-40B4-BE49-F238E27FC236}">
                <a16:creationId xmlns:a16="http://schemas.microsoft.com/office/drawing/2014/main" id="{4DF4055B-F809-C4AA-2212-2A168B8ACE6F}"/>
              </a:ext>
            </a:extLst>
          </p:cNvPr>
          <p:cNvSpPr txBox="1"/>
          <p:nvPr/>
        </p:nvSpPr>
        <p:spPr>
          <a:xfrm>
            <a:off x="2387600" y="4292600"/>
            <a:ext cx="1206500" cy="457561"/>
          </a:xfrm>
          <a:prstGeom prst="rect">
            <a:avLst/>
          </a:prstGeom>
          <a:noFill/>
        </p:spPr>
        <p:txBody>
          <a:bodyPr vert="horz" wrap="square" lIns="25400" tIns="25400" rIns="25400" bIns="25400" rtlCol="0">
            <a:spAutoFit/>
          </a:bodyPr>
          <a:lstStyle/>
          <a:p>
            <a:r>
              <a:rPr lang="en-US" sz="880">
                <a:solidFill>
                  <a:srgbClr val="1E293B"/>
                </a:solidFill>
                <a:latin typeface="Segoe UI" panose="020B0502040204020203" pitchFamily="34" charset="0"/>
              </a:rPr>
              <a:t>💀 DLQ QUEUE
• Dead-letter errors
• Reprocess invalid</a:t>
            </a:r>
            <a:endParaRPr lang="vi-VN" sz="880">
              <a:solidFill>
                <a:srgbClr val="1E293B"/>
              </a:solidFill>
              <a:latin typeface="Segoe UI" panose="020B0502040204020203" pitchFamily="34" charset="0"/>
            </a:endParaRPr>
          </a:p>
        </p:txBody>
      </p:sp>
      <p:sp>
        <p:nvSpPr>
          <p:cNvPr id="24" name="Cylinder 23">
            <a:extLst>
              <a:ext uri="{FF2B5EF4-FFF2-40B4-BE49-F238E27FC236}">
                <a16:creationId xmlns:a16="http://schemas.microsoft.com/office/drawing/2014/main" id="{50B4DE90-71E2-41BE-BC0D-2AEC61248E1D}"/>
              </a:ext>
            </a:extLst>
          </p:cNvPr>
          <p:cNvSpPr/>
          <p:nvPr/>
        </p:nvSpPr>
        <p:spPr>
          <a:xfrm>
            <a:off x="3759200" y="2857500"/>
            <a:ext cx="152400" cy="127000"/>
          </a:xfrm>
          <a:prstGeom prst="can">
            <a:avLst/>
          </a:prstGeom>
          <a:solidFill>
            <a:srgbClr val="D9770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Rectangle: Rounded Corners 24">
            <a:extLst>
              <a:ext uri="{FF2B5EF4-FFF2-40B4-BE49-F238E27FC236}">
                <a16:creationId xmlns:a16="http://schemas.microsoft.com/office/drawing/2014/main" id="{F7C59531-9E3F-804F-1E08-1F5DFCA7BB18}"/>
              </a:ext>
            </a:extLst>
          </p:cNvPr>
          <p:cNvSpPr/>
          <p:nvPr/>
        </p:nvSpPr>
        <p:spPr>
          <a:xfrm>
            <a:off x="3949700" y="736600"/>
            <a:ext cx="1714500" cy="44450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6" name="Rectangle: Rounded Corners 25">
            <a:extLst>
              <a:ext uri="{FF2B5EF4-FFF2-40B4-BE49-F238E27FC236}">
                <a16:creationId xmlns:a16="http://schemas.microsoft.com/office/drawing/2014/main" id="{3F643988-A52D-C22A-8892-6DF79D5F3B60}"/>
              </a:ext>
            </a:extLst>
          </p:cNvPr>
          <p:cNvSpPr/>
          <p:nvPr/>
        </p:nvSpPr>
        <p:spPr>
          <a:xfrm>
            <a:off x="3949700" y="736600"/>
            <a:ext cx="1714500" cy="3302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DATA LAKEHOUSE</a:t>
            </a:r>
          </a:p>
        </p:txBody>
      </p:sp>
      <p:sp>
        <p:nvSpPr>
          <p:cNvPr id="27" name="Rectangle: Rounded Corners 26">
            <a:extLst>
              <a:ext uri="{FF2B5EF4-FFF2-40B4-BE49-F238E27FC236}">
                <a16:creationId xmlns:a16="http://schemas.microsoft.com/office/drawing/2014/main" id="{F9F48B16-23DB-AD1B-65FB-4576738A73F0}"/>
              </a:ext>
            </a:extLst>
          </p:cNvPr>
          <p:cNvSpPr/>
          <p:nvPr/>
        </p:nvSpPr>
        <p:spPr>
          <a:xfrm>
            <a:off x="4025900" y="1168400"/>
            <a:ext cx="1562100" cy="762000"/>
          </a:xfrm>
          <a:prstGeom prst="roundRect">
            <a:avLst/>
          </a:prstGeom>
          <a:solidFill>
            <a:srgbClr val="FFFFFF"/>
          </a:solidFill>
          <a:ln w="1270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8" name="TextBox 27">
            <a:extLst>
              <a:ext uri="{FF2B5EF4-FFF2-40B4-BE49-F238E27FC236}">
                <a16:creationId xmlns:a16="http://schemas.microsoft.com/office/drawing/2014/main" id="{BD4B6BAC-8049-F423-CE48-0E8ECDF1988A}"/>
              </a:ext>
            </a:extLst>
          </p:cNvPr>
          <p:cNvSpPr txBox="1"/>
          <p:nvPr/>
        </p:nvSpPr>
        <p:spPr>
          <a:xfrm>
            <a:off x="4076700" y="1219200"/>
            <a:ext cx="1460500" cy="466794"/>
          </a:xfrm>
          <a:prstGeom prst="rect">
            <a:avLst/>
          </a:prstGeom>
          <a:noFill/>
        </p:spPr>
        <p:txBody>
          <a:bodyPr vert="horz" wrap="square" lIns="25400" tIns="25400" rIns="25400" bIns="25400" rtlCol="0">
            <a:spAutoFit/>
          </a:bodyPr>
          <a:lstStyle/>
          <a:p>
            <a:r>
              <a:rPr lang="en-US" sz="900">
                <a:solidFill>
                  <a:srgbClr val="1E293B"/>
                </a:solidFill>
                <a:latin typeface="Segoe UI" panose="020B0502040204020203" pitchFamily="34" charset="0"/>
              </a:rPr>
              <a:t>🦩 MinIO (S3)
• High-performance
• Object Lakehouse</a:t>
            </a:r>
            <a:endParaRPr lang="vi-VN" sz="900">
              <a:solidFill>
                <a:srgbClr val="1E293B"/>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DBCBF861-8B10-17AA-2827-D38AF6913C20}"/>
              </a:ext>
            </a:extLst>
          </p:cNvPr>
          <p:cNvSpPr/>
          <p:nvPr/>
        </p:nvSpPr>
        <p:spPr>
          <a:xfrm>
            <a:off x="4025900" y="2032000"/>
            <a:ext cx="1562100" cy="838200"/>
          </a:xfrm>
          <a:prstGeom prst="roundRect">
            <a:avLst/>
          </a:prstGeom>
          <a:solidFill>
            <a:srgbClr val="FEF9C3"/>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TextBox 29">
            <a:extLst>
              <a:ext uri="{FF2B5EF4-FFF2-40B4-BE49-F238E27FC236}">
                <a16:creationId xmlns:a16="http://schemas.microsoft.com/office/drawing/2014/main" id="{DCC46BCE-C9A1-E88B-4C9A-0D5572FF9495}"/>
              </a:ext>
            </a:extLst>
          </p:cNvPr>
          <p:cNvSpPr txBox="1"/>
          <p:nvPr/>
        </p:nvSpPr>
        <p:spPr>
          <a:xfrm>
            <a:off x="4076700" y="2082800"/>
            <a:ext cx="1460500" cy="592983"/>
          </a:xfrm>
          <a:prstGeom prst="rect">
            <a:avLst/>
          </a:prstGeom>
          <a:noFill/>
        </p:spPr>
        <p:txBody>
          <a:bodyPr vert="horz" wrap="square" lIns="25400" tIns="25400" rIns="25400" bIns="25400" rtlCol="0">
            <a:spAutoFit/>
          </a:bodyPr>
          <a:lstStyle/>
          <a:p>
            <a:r>
              <a:rPr lang="en-US" sz="880" dirty="0">
                <a:solidFill>
                  <a:srgbClr val="1E293B"/>
                </a:solidFill>
                <a:latin typeface="Segoe UI" panose="020B0502040204020203" pitchFamily="34" charset="0"/>
              </a:rPr>
              <a:t>🥉 BRONZE (Raw)
• Raw JSON events
• Immutable append
• Complete history</a:t>
            </a:r>
            <a:endParaRPr lang="vi-VN" sz="880" dirty="0">
              <a:solidFill>
                <a:srgbClr val="1E293B"/>
              </a:solidFill>
              <a:latin typeface="Segoe UI" panose="020B0502040204020203" pitchFamily="34" charset="0"/>
            </a:endParaRPr>
          </a:p>
        </p:txBody>
      </p:sp>
      <p:sp>
        <p:nvSpPr>
          <p:cNvPr id="31" name="Rectangle: Rounded Corners 30">
            <a:extLst>
              <a:ext uri="{FF2B5EF4-FFF2-40B4-BE49-F238E27FC236}">
                <a16:creationId xmlns:a16="http://schemas.microsoft.com/office/drawing/2014/main" id="{9CF95AF9-945F-A389-4081-82112C831E43}"/>
              </a:ext>
            </a:extLst>
          </p:cNvPr>
          <p:cNvSpPr/>
          <p:nvPr/>
        </p:nvSpPr>
        <p:spPr>
          <a:xfrm>
            <a:off x="4025900" y="2971800"/>
            <a:ext cx="1562100" cy="8382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2" name="TextBox 31">
            <a:extLst>
              <a:ext uri="{FF2B5EF4-FFF2-40B4-BE49-F238E27FC236}">
                <a16:creationId xmlns:a16="http://schemas.microsoft.com/office/drawing/2014/main" id="{957AC6F2-093A-6662-06D4-D59E0B3B68BD}"/>
              </a:ext>
            </a:extLst>
          </p:cNvPr>
          <p:cNvSpPr txBox="1"/>
          <p:nvPr/>
        </p:nvSpPr>
        <p:spPr>
          <a:xfrm>
            <a:off x="4076700" y="3022600"/>
            <a:ext cx="1460500" cy="592983"/>
          </a:xfrm>
          <a:prstGeom prst="rect">
            <a:avLst/>
          </a:prstGeom>
          <a:noFill/>
        </p:spPr>
        <p:txBody>
          <a:bodyPr vert="horz" wrap="square" lIns="25400" tIns="25400" rIns="25400" bIns="25400" rtlCol="0">
            <a:spAutoFit/>
          </a:bodyPr>
          <a:lstStyle/>
          <a:p>
            <a:r>
              <a:rPr lang="en-US" sz="880">
                <a:solidFill>
                  <a:srgbClr val="1E293B"/>
                </a:solidFill>
                <a:latin typeface="Segoe UI" panose="020B0502040204020203" pitchFamily="34" charset="0"/>
              </a:rPr>
              <a:t>🥈 SILVER (Clean)
• Deduplicated
• Type cast, Schema
• Filtered noise</a:t>
            </a:r>
            <a:endParaRPr lang="vi-VN" sz="880">
              <a:solidFill>
                <a:srgbClr val="1E293B"/>
              </a:solidFill>
              <a:latin typeface="Segoe UI" panose="020B0502040204020203" pitchFamily="34" charset="0"/>
            </a:endParaRPr>
          </a:p>
        </p:txBody>
      </p:sp>
      <p:sp>
        <p:nvSpPr>
          <p:cNvPr id="33" name="Rectangle: Rounded Corners 32">
            <a:extLst>
              <a:ext uri="{FF2B5EF4-FFF2-40B4-BE49-F238E27FC236}">
                <a16:creationId xmlns:a16="http://schemas.microsoft.com/office/drawing/2014/main" id="{ABBFE2CC-1CB7-B215-42A2-FE3EDEBB9C76}"/>
              </a:ext>
            </a:extLst>
          </p:cNvPr>
          <p:cNvSpPr/>
          <p:nvPr/>
        </p:nvSpPr>
        <p:spPr>
          <a:xfrm>
            <a:off x="4025900" y="3911600"/>
            <a:ext cx="1562100" cy="8382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4" name="TextBox 33">
            <a:extLst>
              <a:ext uri="{FF2B5EF4-FFF2-40B4-BE49-F238E27FC236}">
                <a16:creationId xmlns:a16="http://schemas.microsoft.com/office/drawing/2014/main" id="{85A84852-FBC2-2E22-0D28-408BB41A8316}"/>
              </a:ext>
            </a:extLst>
          </p:cNvPr>
          <p:cNvSpPr txBox="1"/>
          <p:nvPr/>
        </p:nvSpPr>
        <p:spPr>
          <a:xfrm>
            <a:off x="4076700" y="3962400"/>
            <a:ext cx="1460500" cy="592983"/>
          </a:xfrm>
          <a:prstGeom prst="rect">
            <a:avLst/>
          </a:prstGeom>
          <a:noFill/>
        </p:spPr>
        <p:txBody>
          <a:bodyPr vert="horz" wrap="square" lIns="25400" tIns="25400" rIns="25400" bIns="25400" rtlCol="0">
            <a:spAutoFit/>
          </a:bodyPr>
          <a:lstStyle/>
          <a:p>
            <a:r>
              <a:rPr lang="vi-VN" sz="880">
                <a:solidFill>
                  <a:srgbClr val="1E293B"/>
                </a:solidFill>
                <a:latin typeface="Segoe UI" panose="020B0502040204020203" pitchFamily="34" charset="0"/>
              </a:rPr>
              <a:t>🥇 GOLD (Business)
• Aggregated KPIs
• Parquet Snappy
• ACID _delta_log</a:t>
            </a:r>
          </a:p>
        </p:txBody>
      </p:sp>
      <p:sp>
        <p:nvSpPr>
          <p:cNvPr id="35" name="Rectangle: Rounded Corners 34">
            <a:extLst>
              <a:ext uri="{FF2B5EF4-FFF2-40B4-BE49-F238E27FC236}">
                <a16:creationId xmlns:a16="http://schemas.microsoft.com/office/drawing/2014/main" id="{65929D29-7F20-8461-125B-13EC04AAF0F2}"/>
              </a:ext>
            </a:extLst>
          </p:cNvPr>
          <p:cNvSpPr/>
          <p:nvPr/>
        </p:nvSpPr>
        <p:spPr>
          <a:xfrm>
            <a:off x="4025900" y="4826000"/>
            <a:ext cx="1562100" cy="254000"/>
          </a:xfrm>
          <a:prstGeom prst="round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850" b="1">
                <a:solidFill>
                  <a:srgbClr val="FFFFFF"/>
                </a:solidFill>
                <a:latin typeface="Segoe UI" panose="020B0502040204020203" pitchFamily="34" charset="0"/>
              </a:rPr>
              <a:t>Time Travel ACID</a:t>
            </a:r>
          </a:p>
        </p:txBody>
      </p:sp>
      <p:sp>
        <p:nvSpPr>
          <p:cNvPr id="36" name="Cylinder 35">
            <a:extLst>
              <a:ext uri="{FF2B5EF4-FFF2-40B4-BE49-F238E27FC236}">
                <a16:creationId xmlns:a16="http://schemas.microsoft.com/office/drawing/2014/main" id="{9BDEDA8A-C47B-5F13-6B77-3F2B84776989}"/>
              </a:ext>
            </a:extLst>
          </p:cNvPr>
          <p:cNvSpPr/>
          <p:nvPr/>
        </p:nvSpPr>
        <p:spPr>
          <a:xfrm>
            <a:off x="5702300" y="2857500"/>
            <a:ext cx="152400" cy="127000"/>
          </a:xfrm>
          <a:prstGeom prst="can">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Rectangle: Rounded Corners 36">
            <a:extLst>
              <a:ext uri="{FF2B5EF4-FFF2-40B4-BE49-F238E27FC236}">
                <a16:creationId xmlns:a16="http://schemas.microsoft.com/office/drawing/2014/main" id="{88E9E9C2-7EFC-97AD-7E5A-2202F90A74E6}"/>
              </a:ext>
            </a:extLst>
          </p:cNvPr>
          <p:cNvSpPr/>
          <p:nvPr/>
        </p:nvSpPr>
        <p:spPr>
          <a:xfrm>
            <a:off x="5892800" y="736600"/>
            <a:ext cx="1841500" cy="44450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8" name="Rectangle: Rounded Corners 37">
            <a:extLst>
              <a:ext uri="{FF2B5EF4-FFF2-40B4-BE49-F238E27FC236}">
                <a16:creationId xmlns:a16="http://schemas.microsoft.com/office/drawing/2014/main" id="{E1F19B83-8DC7-1B0A-322E-731586DAE2A7}"/>
              </a:ext>
            </a:extLst>
          </p:cNvPr>
          <p:cNvSpPr/>
          <p:nvPr/>
        </p:nvSpPr>
        <p:spPr>
          <a:xfrm>
            <a:off x="5892800" y="736600"/>
            <a:ext cx="1841500" cy="330200"/>
          </a:xfrm>
          <a:prstGeom prst="roundRect">
            <a:avLst/>
          </a:prstGeom>
          <a:solidFill>
            <a:srgbClr val="D9770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PROCESSING</a:t>
            </a:r>
          </a:p>
        </p:txBody>
      </p:sp>
      <p:sp>
        <p:nvSpPr>
          <p:cNvPr id="39" name="Rectangle: Rounded Corners 38">
            <a:extLst>
              <a:ext uri="{FF2B5EF4-FFF2-40B4-BE49-F238E27FC236}">
                <a16:creationId xmlns:a16="http://schemas.microsoft.com/office/drawing/2014/main" id="{BD162D72-F376-C87E-7532-ED9347F40CD0}"/>
              </a:ext>
            </a:extLst>
          </p:cNvPr>
          <p:cNvSpPr/>
          <p:nvPr/>
        </p:nvSpPr>
        <p:spPr>
          <a:xfrm>
            <a:off x="5969000" y="1168400"/>
            <a:ext cx="1689100" cy="9652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0" name="TextBox 39">
            <a:extLst>
              <a:ext uri="{FF2B5EF4-FFF2-40B4-BE49-F238E27FC236}">
                <a16:creationId xmlns:a16="http://schemas.microsoft.com/office/drawing/2014/main" id="{CAA30C43-1F22-9815-1E41-A78E25EE6013}"/>
              </a:ext>
            </a:extLst>
          </p:cNvPr>
          <p:cNvSpPr txBox="1"/>
          <p:nvPr/>
        </p:nvSpPr>
        <p:spPr>
          <a:xfrm>
            <a:off x="6019800" y="1219200"/>
            <a:ext cx="1587500" cy="605294"/>
          </a:xfrm>
          <a:prstGeom prst="rect">
            <a:avLst/>
          </a:prstGeom>
          <a:noFill/>
        </p:spPr>
        <p:txBody>
          <a:bodyPr vert="horz" wrap="square" lIns="25400" tIns="25400" rIns="25400" bIns="25400" rtlCol="0">
            <a:spAutoFit/>
          </a:bodyPr>
          <a:lstStyle/>
          <a:p>
            <a:r>
              <a:rPr lang="en-US" sz="900" dirty="0">
                <a:solidFill>
                  <a:srgbClr val="1E293B"/>
                </a:solidFill>
                <a:latin typeface="Segoe UI" panose="020B0502040204020203" pitchFamily="34" charset="0"/>
              </a:rPr>
              <a:t>✨ APACHE SPARK 3.5
• </a:t>
            </a:r>
            <a:r>
              <a:rPr lang="en-US" sz="900" dirty="0" err="1">
                <a:solidFill>
                  <a:srgbClr val="1E293B"/>
                </a:solidFill>
                <a:latin typeface="Segoe UI" panose="020B0502040204020203" pitchFamily="34" charset="0"/>
              </a:rPr>
              <a:t>PySpark</a:t>
            </a:r>
            <a:r>
              <a:rPr lang="en-US" sz="900" dirty="0">
                <a:solidFill>
                  <a:srgbClr val="1E293B"/>
                </a:solidFill>
                <a:latin typeface="Segoe UI" panose="020B0502040204020203" pitchFamily="34" charset="0"/>
              </a:rPr>
              <a:t> Engine
• Distributed Compute
• Fault-tolerant RDD</a:t>
            </a:r>
            <a:endParaRPr lang="vi-VN" sz="900" dirty="0">
              <a:solidFill>
                <a:srgbClr val="1E293B"/>
              </a:solidFill>
              <a:latin typeface="Segoe UI" panose="020B0502040204020203" pitchFamily="34" charset="0"/>
            </a:endParaRPr>
          </a:p>
        </p:txBody>
      </p:sp>
      <p:sp>
        <p:nvSpPr>
          <p:cNvPr id="41" name="Rectangle: Rounded Corners 40">
            <a:extLst>
              <a:ext uri="{FF2B5EF4-FFF2-40B4-BE49-F238E27FC236}">
                <a16:creationId xmlns:a16="http://schemas.microsoft.com/office/drawing/2014/main" id="{0187879D-A1B2-5632-E735-B4570AB4D3AD}"/>
              </a:ext>
            </a:extLst>
          </p:cNvPr>
          <p:cNvSpPr/>
          <p:nvPr/>
        </p:nvSpPr>
        <p:spPr>
          <a:xfrm>
            <a:off x="5969000" y="2235200"/>
            <a:ext cx="1689100" cy="9144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2" name="TextBox 41">
            <a:extLst>
              <a:ext uri="{FF2B5EF4-FFF2-40B4-BE49-F238E27FC236}">
                <a16:creationId xmlns:a16="http://schemas.microsoft.com/office/drawing/2014/main" id="{6BF86C1B-13A6-A8B8-2BFC-DAD756AEA612}"/>
              </a:ext>
            </a:extLst>
          </p:cNvPr>
          <p:cNvSpPr txBox="1"/>
          <p:nvPr/>
        </p:nvSpPr>
        <p:spPr>
          <a:xfrm>
            <a:off x="6019800" y="2286000"/>
            <a:ext cx="1587500" cy="592983"/>
          </a:xfrm>
          <a:prstGeom prst="rect">
            <a:avLst/>
          </a:prstGeom>
          <a:noFill/>
        </p:spPr>
        <p:txBody>
          <a:bodyPr vert="horz" wrap="square" lIns="25400" tIns="25400" rIns="25400" bIns="25400" rtlCol="0">
            <a:spAutoFit/>
          </a:bodyPr>
          <a:lstStyle/>
          <a:p>
            <a:r>
              <a:rPr lang="en-US" sz="880" dirty="0">
                <a:solidFill>
                  <a:srgbClr val="1E293B"/>
                </a:solidFill>
                <a:latin typeface="Segoe UI" panose="020B0502040204020203" pitchFamily="34" charset="0"/>
              </a:rPr>
              <a:t>⚙️ BATCH ETL
• Medallion transforms
• Historical rollup
• Feature engineering</a:t>
            </a:r>
            <a:endParaRPr lang="vi-VN" sz="880" dirty="0">
              <a:solidFill>
                <a:srgbClr val="1E293B"/>
              </a:solidFill>
              <a:latin typeface="Segoe UI" panose="020B0502040204020203" pitchFamily="34" charset="0"/>
            </a:endParaRPr>
          </a:p>
        </p:txBody>
      </p:sp>
      <p:sp>
        <p:nvSpPr>
          <p:cNvPr id="43" name="Rectangle: Rounded Corners 42">
            <a:extLst>
              <a:ext uri="{FF2B5EF4-FFF2-40B4-BE49-F238E27FC236}">
                <a16:creationId xmlns:a16="http://schemas.microsoft.com/office/drawing/2014/main" id="{EE53CB2B-02E7-EC3D-673D-0EF900D86D64}"/>
              </a:ext>
            </a:extLst>
          </p:cNvPr>
          <p:cNvSpPr/>
          <p:nvPr/>
        </p:nvSpPr>
        <p:spPr>
          <a:xfrm>
            <a:off x="5969000" y="3251200"/>
            <a:ext cx="1689100" cy="9144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TextBox 43">
            <a:extLst>
              <a:ext uri="{FF2B5EF4-FFF2-40B4-BE49-F238E27FC236}">
                <a16:creationId xmlns:a16="http://schemas.microsoft.com/office/drawing/2014/main" id="{9767ECA0-D09C-015D-8E69-4A4824DEC080}"/>
              </a:ext>
            </a:extLst>
          </p:cNvPr>
          <p:cNvSpPr txBox="1"/>
          <p:nvPr/>
        </p:nvSpPr>
        <p:spPr>
          <a:xfrm>
            <a:off x="6019800" y="3302000"/>
            <a:ext cx="1587500" cy="592983"/>
          </a:xfrm>
          <a:prstGeom prst="rect">
            <a:avLst/>
          </a:prstGeom>
          <a:noFill/>
        </p:spPr>
        <p:txBody>
          <a:bodyPr vert="horz" wrap="square" lIns="25400" tIns="25400" rIns="25400" bIns="25400" rtlCol="0">
            <a:spAutoFit/>
          </a:bodyPr>
          <a:lstStyle/>
          <a:p>
            <a:r>
              <a:rPr lang="en-US" sz="880" dirty="0">
                <a:solidFill>
                  <a:srgbClr val="1E293B"/>
                </a:solidFill>
                <a:latin typeface="Segoe UI" panose="020B0502040204020203" pitchFamily="34" charset="0"/>
              </a:rPr>
              <a:t>🌊 STREAMING JOB
• Structured Streaming
• Sliding Windows
• Real-time Outliers</a:t>
            </a:r>
            <a:endParaRPr lang="vi-VN" sz="880" dirty="0">
              <a:solidFill>
                <a:srgbClr val="1E293B"/>
              </a:solidFill>
              <a:latin typeface="Segoe UI" panose="020B0502040204020203" pitchFamily="34" charset="0"/>
            </a:endParaRPr>
          </a:p>
        </p:txBody>
      </p:sp>
      <p:sp>
        <p:nvSpPr>
          <p:cNvPr id="45" name="Rectangle: Rounded Corners 44">
            <a:extLst>
              <a:ext uri="{FF2B5EF4-FFF2-40B4-BE49-F238E27FC236}">
                <a16:creationId xmlns:a16="http://schemas.microsoft.com/office/drawing/2014/main" id="{DC8E0C84-CD43-814F-1421-19FF132E4108}"/>
              </a:ext>
            </a:extLst>
          </p:cNvPr>
          <p:cNvSpPr/>
          <p:nvPr/>
        </p:nvSpPr>
        <p:spPr>
          <a:xfrm>
            <a:off x="5969000" y="4267200"/>
            <a:ext cx="1689100" cy="7874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TextBox 45">
            <a:extLst>
              <a:ext uri="{FF2B5EF4-FFF2-40B4-BE49-F238E27FC236}">
                <a16:creationId xmlns:a16="http://schemas.microsoft.com/office/drawing/2014/main" id="{FA0CDB60-1E5A-D586-6249-1327E41946E0}"/>
              </a:ext>
            </a:extLst>
          </p:cNvPr>
          <p:cNvSpPr txBox="1"/>
          <p:nvPr/>
        </p:nvSpPr>
        <p:spPr>
          <a:xfrm>
            <a:off x="6019800" y="4318000"/>
            <a:ext cx="1587500" cy="457561"/>
          </a:xfrm>
          <a:prstGeom prst="rect">
            <a:avLst/>
          </a:prstGeom>
          <a:noFill/>
        </p:spPr>
        <p:txBody>
          <a:bodyPr vert="horz" wrap="square" lIns="25400" tIns="25400" rIns="25400" bIns="25400" rtlCol="0">
            <a:spAutoFit/>
          </a:bodyPr>
          <a:lstStyle/>
          <a:p>
            <a:r>
              <a:rPr lang="en-US" sz="880" dirty="0">
                <a:solidFill>
                  <a:srgbClr val="1E293B"/>
                </a:solidFill>
                <a:latin typeface="Segoe UI" panose="020B0502040204020203" pitchFamily="34" charset="0"/>
              </a:rPr>
              <a:t>🎯 DQ SCORING
• Completeness check
• Format &amp; Uniqueness</a:t>
            </a:r>
            <a:endParaRPr lang="vi-VN" sz="880" dirty="0">
              <a:solidFill>
                <a:srgbClr val="1E293B"/>
              </a:solidFill>
              <a:latin typeface="Segoe UI" panose="020B0502040204020203" pitchFamily="34" charset="0"/>
            </a:endParaRPr>
          </a:p>
        </p:txBody>
      </p:sp>
      <p:sp>
        <p:nvSpPr>
          <p:cNvPr id="47" name="Cylinder 46">
            <a:extLst>
              <a:ext uri="{FF2B5EF4-FFF2-40B4-BE49-F238E27FC236}">
                <a16:creationId xmlns:a16="http://schemas.microsoft.com/office/drawing/2014/main" id="{7F76D578-3290-000B-F6E7-3276BDF00426}"/>
              </a:ext>
            </a:extLst>
          </p:cNvPr>
          <p:cNvSpPr/>
          <p:nvPr/>
        </p:nvSpPr>
        <p:spPr>
          <a:xfrm>
            <a:off x="7772400" y="2857500"/>
            <a:ext cx="152400" cy="127000"/>
          </a:xfrm>
          <a:prstGeom prst="can">
            <a:avLst/>
          </a:prstGeom>
          <a:solidFill>
            <a:srgbClr val="D9770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8" name="Rectangle: Rounded Corners 47">
            <a:extLst>
              <a:ext uri="{FF2B5EF4-FFF2-40B4-BE49-F238E27FC236}">
                <a16:creationId xmlns:a16="http://schemas.microsoft.com/office/drawing/2014/main" id="{3B916DB4-05AF-F0DC-9A83-343C1ECC6CD8}"/>
              </a:ext>
            </a:extLst>
          </p:cNvPr>
          <p:cNvSpPr/>
          <p:nvPr/>
        </p:nvSpPr>
        <p:spPr>
          <a:xfrm>
            <a:off x="7962900" y="736600"/>
            <a:ext cx="1778000" cy="44450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9" name="Rectangle: Rounded Corners 48">
            <a:extLst>
              <a:ext uri="{FF2B5EF4-FFF2-40B4-BE49-F238E27FC236}">
                <a16:creationId xmlns:a16="http://schemas.microsoft.com/office/drawing/2014/main" id="{DBA3033F-FF56-875E-32B1-605D5B0EDCCB}"/>
              </a:ext>
            </a:extLst>
          </p:cNvPr>
          <p:cNvSpPr/>
          <p:nvPr/>
        </p:nvSpPr>
        <p:spPr>
          <a:xfrm>
            <a:off x="7962900" y="736600"/>
            <a:ext cx="1778000" cy="330200"/>
          </a:xfrm>
          <a:prstGeom prst="roundRect">
            <a:avLst/>
          </a:prstGeom>
          <a:solidFill>
            <a:srgbClr val="7C3A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00" b="1">
                <a:solidFill>
                  <a:srgbClr val="FFFFFF"/>
                </a:solidFill>
                <a:latin typeface="Segoe UI" panose="020B0502040204020203" pitchFamily="34" charset="0"/>
              </a:rPr>
              <a:t>SERVING &amp; ANALYTICS</a:t>
            </a:r>
          </a:p>
        </p:txBody>
      </p:sp>
      <p:sp>
        <p:nvSpPr>
          <p:cNvPr id="50" name="Rectangle: Rounded Corners 49">
            <a:extLst>
              <a:ext uri="{FF2B5EF4-FFF2-40B4-BE49-F238E27FC236}">
                <a16:creationId xmlns:a16="http://schemas.microsoft.com/office/drawing/2014/main" id="{913B5549-DAE6-3701-4DD1-46909085E027}"/>
              </a:ext>
            </a:extLst>
          </p:cNvPr>
          <p:cNvSpPr/>
          <p:nvPr/>
        </p:nvSpPr>
        <p:spPr>
          <a:xfrm>
            <a:off x="8039100" y="1168400"/>
            <a:ext cx="1625600" cy="18796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TextBox 50">
            <a:extLst>
              <a:ext uri="{FF2B5EF4-FFF2-40B4-BE49-F238E27FC236}">
                <a16:creationId xmlns:a16="http://schemas.microsoft.com/office/drawing/2014/main" id="{9772DA22-9AD4-457A-24AC-8712C2CDF264}"/>
              </a:ext>
            </a:extLst>
          </p:cNvPr>
          <p:cNvSpPr txBox="1"/>
          <p:nvPr/>
        </p:nvSpPr>
        <p:spPr>
          <a:xfrm>
            <a:off x="8089900" y="1219200"/>
            <a:ext cx="1524000" cy="1020792"/>
          </a:xfrm>
          <a:prstGeom prst="rect">
            <a:avLst/>
          </a:prstGeom>
          <a:noFill/>
        </p:spPr>
        <p:txBody>
          <a:bodyPr vert="horz" wrap="square" lIns="25400" tIns="25400" rIns="25400" bIns="25400" rtlCol="0">
            <a:spAutoFit/>
          </a:bodyPr>
          <a:lstStyle/>
          <a:p>
            <a:r>
              <a:rPr lang="vi-VN" sz="900">
                <a:solidFill>
                  <a:srgbClr val="1E293B"/>
                </a:solidFill>
                <a:latin typeface="Segoe UI" panose="020B0502040204020203" pitchFamily="34" charset="0"/>
              </a:rPr>
              <a:t>🐘 POSTGRESQL 16
• Data Warehouse
• Relational Star Schema
• Dimension Tables
• Fact Tables
• Anomaly Event Log
• Fast SQL Joins</a:t>
            </a:r>
          </a:p>
        </p:txBody>
      </p:sp>
      <p:sp>
        <p:nvSpPr>
          <p:cNvPr id="52" name="Rectangle: Rounded Corners 51">
            <a:extLst>
              <a:ext uri="{FF2B5EF4-FFF2-40B4-BE49-F238E27FC236}">
                <a16:creationId xmlns:a16="http://schemas.microsoft.com/office/drawing/2014/main" id="{4E284541-568D-E194-F77F-E618D5DA735F}"/>
              </a:ext>
            </a:extLst>
          </p:cNvPr>
          <p:cNvSpPr/>
          <p:nvPr/>
        </p:nvSpPr>
        <p:spPr>
          <a:xfrm>
            <a:off x="8039100" y="3149600"/>
            <a:ext cx="1625600" cy="190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3" name="TextBox 52">
            <a:extLst>
              <a:ext uri="{FF2B5EF4-FFF2-40B4-BE49-F238E27FC236}">
                <a16:creationId xmlns:a16="http://schemas.microsoft.com/office/drawing/2014/main" id="{CE4D6E1E-7DDA-D9AB-D3D7-9F7F318C23B1}"/>
              </a:ext>
            </a:extLst>
          </p:cNvPr>
          <p:cNvSpPr txBox="1"/>
          <p:nvPr/>
        </p:nvSpPr>
        <p:spPr>
          <a:xfrm>
            <a:off x="8089900" y="3200400"/>
            <a:ext cx="1524000" cy="1020792"/>
          </a:xfrm>
          <a:prstGeom prst="rect">
            <a:avLst/>
          </a:prstGeom>
          <a:noFill/>
        </p:spPr>
        <p:txBody>
          <a:bodyPr vert="horz" wrap="square" lIns="25400" tIns="25400" rIns="25400" bIns="25400" rtlCol="0">
            <a:spAutoFit/>
          </a:bodyPr>
          <a:lstStyle/>
          <a:p>
            <a:r>
              <a:rPr lang="en-US" sz="900" dirty="0">
                <a:solidFill>
                  <a:srgbClr val="1E293B"/>
                </a:solidFill>
                <a:latin typeface="Segoe UI" panose="020B0502040204020203" pitchFamily="34" charset="0"/>
              </a:rPr>
              <a:t>🔍 ELASTICSEARCH 8.13
• Full-Text Search Engine
• Inverted Indexes
• Sub-second Search
• Review text analysis
• Product filters
• Fast aggregations</a:t>
            </a:r>
            <a:endParaRPr lang="vi-VN" sz="900" dirty="0">
              <a:solidFill>
                <a:srgbClr val="1E293B"/>
              </a:solidFill>
              <a:latin typeface="Segoe UI" panose="020B0502040204020203" pitchFamily="34" charset="0"/>
            </a:endParaRPr>
          </a:p>
        </p:txBody>
      </p:sp>
      <p:sp>
        <p:nvSpPr>
          <p:cNvPr id="54" name="Cylinder 53">
            <a:extLst>
              <a:ext uri="{FF2B5EF4-FFF2-40B4-BE49-F238E27FC236}">
                <a16:creationId xmlns:a16="http://schemas.microsoft.com/office/drawing/2014/main" id="{904BD6F5-5BAD-6D23-CEC5-8AAEF192D17B}"/>
              </a:ext>
            </a:extLst>
          </p:cNvPr>
          <p:cNvSpPr/>
          <p:nvPr/>
        </p:nvSpPr>
        <p:spPr>
          <a:xfrm>
            <a:off x="9779000" y="2857500"/>
            <a:ext cx="152400" cy="127000"/>
          </a:xfrm>
          <a:prstGeom prst="can">
            <a:avLst/>
          </a:prstGeom>
          <a:solidFill>
            <a:srgbClr val="7C3A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5" name="Rectangle: Rounded Corners 54">
            <a:extLst>
              <a:ext uri="{FF2B5EF4-FFF2-40B4-BE49-F238E27FC236}">
                <a16:creationId xmlns:a16="http://schemas.microsoft.com/office/drawing/2014/main" id="{5CFA59AB-C8C0-A6E2-CDDA-EF2664F7078A}"/>
              </a:ext>
            </a:extLst>
          </p:cNvPr>
          <p:cNvSpPr/>
          <p:nvPr/>
        </p:nvSpPr>
        <p:spPr>
          <a:xfrm>
            <a:off x="9980246" y="762000"/>
            <a:ext cx="1841500" cy="44450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6" name="Rectangle: Rounded Corners 55">
            <a:extLst>
              <a:ext uri="{FF2B5EF4-FFF2-40B4-BE49-F238E27FC236}">
                <a16:creationId xmlns:a16="http://schemas.microsoft.com/office/drawing/2014/main" id="{0C9B632E-4786-EE0B-92F3-A695C91860E0}"/>
              </a:ext>
            </a:extLst>
          </p:cNvPr>
          <p:cNvSpPr/>
          <p:nvPr/>
        </p:nvSpPr>
        <p:spPr>
          <a:xfrm>
            <a:off x="9969500" y="736600"/>
            <a:ext cx="1841500" cy="330200"/>
          </a:xfrm>
          <a:prstGeom prst="roundRect">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1050" b="1">
                <a:solidFill>
                  <a:srgbClr val="FFFFFF"/>
                </a:solidFill>
                <a:latin typeface="Segoe UI" panose="020B0502040204020203" pitchFamily="34" charset="0"/>
              </a:rPr>
              <a:t>BI &amp; ALERTING</a:t>
            </a:r>
          </a:p>
        </p:txBody>
      </p:sp>
      <p:sp>
        <p:nvSpPr>
          <p:cNvPr id="57" name="Rectangle: Rounded Corners 56">
            <a:extLst>
              <a:ext uri="{FF2B5EF4-FFF2-40B4-BE49-F238E27FC236}">
                <a16:creationId xmlns:a16="http://schemas.microsoft.com/office/drawing/2014/main" id="{47B49D3E-A3E2-C617-654B-188128BDF2B4}"/>
              </a:ext>
            </a:extLst>
          </p:cNvPr>
          <p:cNvSpPr/>
          <p:nvPr/>
        </p:nvSpPr>
        <p:spPr>
          <a:xfrm>
            <a:off x="10045700" y="1168400"/>
            <a:ext cx="1689100" cy="2057400"/>
          </a:xfrm>
          <a:prstGeom prst="roundRect">
            <a:avLst/>
          </a:prstGeom>
          <a:solidFill>
            <a:srgbClr val="FFFFFF"/>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8" name="TextBox 57">
            <a:extLst>
              <a:ext uri="{FF2B5EF4-FFF2-40B4-BE49-F238E27FC236}">
                <a16:creationId xmlns:a16="http://schemas.microsoft.com/office/drawing/2014/main" id="{A1923E3E-F308-1CD8-6308-38AF8B72696B}"/>
              </a:ext>
            </a:extLst>
          </p:cNvPr>
          <p:cNvSpPr txBox="1"/>
          <p:nvPr/>
        </p:nvSpPr>
        <p:spPr>
          <a:xfrm>
            <a:off x="10096500" y="1219200"/>
            <a:ext cx="1587500" cy="1134670"/>
          </a:xfrm>
          <a:prstGeom prst="rect">
            <a:avLst/>
          </a:prstGeom>
          <a:noFill/>
        </p:spPr>
        <p:txBody>
          <a:bodyPr vert="horz" wrap="square" lIns="25400" tIns="25400" rIns="25400" bIns="25400" rtlCol="0">
            <a:spAutoFit/>
          </a:bodyPr>
          <a:lstStyle/>
          <a:p>
            <a:r>
              <a:rPr lang="en-US" sz="880">
                <a:solidFill>
                  <a:srgbClr val="1E293B"/>
                </a:solidFill>
                <a:latin typeface="Segoe UI" panose="020B0502040204020203" pitchFamily="34" charset="0"/>
              </a:rPr>
              <a:t>📊 STREAMLIT BI (7 Pages)
• 1. Executive Summary
• 2. Real-time Anomaly
• 3. Price History Track
• 4. Review Analytics
• 5. Data Quality Score
• 6. Lakehouse Inspector
• 7. System Ops Health</a:t>
            </a:r>
            <a:endParaRPr lang="vi-VN" sz="880">
              <a:solidFill>
                <a:srgbClr val="1E293B"/>
              </a:solidFill>
              <a:latin typeface="Segoe UI" panose="020B0502040204020203" pitchFamily="34" charset="0"/>
            </a:endParaRPr>
          </a:p>
        </p:txBody>
      </p:sp>
      <p:sp>
        <p:nvSpPr>
          <p:cNvPr id="59" name="Rectangle: Rounded Corners 58">
            <a:extLst>
              <a:ext uri="{FF2B5EF4-FFF2-40B4-BE49-F238E27FC236}">
                <a16:creationId xmlns:a16="http://schemas.microsoft.com/office/drawing/2014/main" id="{00C6DFF7-6DE7-85B3-440D-090A566075C0}"/>
              </a:ext>
            </a:extLst>
          </p:cNvPr>
          <p:cNvSpPr/>
          <p:nvPr/>
        </p:nvSpPr>
        <p:spPr>
          <a:xfrm>
            <a:off x="10045700" y="3327400"/>
            <a:ext cx="1689100" cy="1727200"/>
          </a:xfrm>
          <a:prstGeom prst="roundRect">
            <a:avLst/>
          </a:prstGeom>
          <a:solidFill>
            <a:srgbClr val="FEF2F2"/>
          </a:solidFill>
          <a:ln w="1524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0" name="TextBox 59">
            <a:extLst>
              <a:ext uri="{FF2B5EF4-FFF2-40B4-BE49-F238E27FC236}">
                <a16:creationId xmlns:a16="http://schemas.microsoft.com/office/drawing/2014/main" id="{2BC3544F-88BC-BA37-FEF2-F12E935D693F}"/>
              </a:ext>
            </a:extLst>
          </p:cNvPr>
          <p:cNvSpPr txBox="1"/>
          <p:nvPr/>
        </p:nvSpPr>
        <p:spPr>
          <a:xfrm>
            <a:off x="10096500" y="3378200"/>
            <a:ext cx="1587500" cy="882293"/>
          </a:xfrm>
          <a:prstGeom prst="rect">
            <a:avLst/>
          </a:prstGeom>
          <a:noFill/>
        </p:spPr>
        <p:txBody>
          <a:bodyPr vert="horz" wrap="square" lIns="25400" tIns="25400" rIns="25400" bIns="25400" rtlCol="0">
            <a:spAutoFit/>
          </a:bodyPr>
          <a:lstStyle/>
          <a:p>
            <a:r>
              <a:rPr lang="vi-VN" sz="900" dirty="0">
                <a:solidFill>
                  <a:srgbClr val="1E293B"/>
                </a:solidFill>
                <a:latin typeface="Segoe UI" panose="020B0502040204020203" pitchFamily="34" charset="0"/>
              </a:rPr>
              <a:t>🔔 ALERTING ENGINE
• Instant Webhooks
• 📧 Email Manager
• 💬 Slack Channel
• 📱 Telegram Bot
• Auto incident ticket</a:t>
            </a:r>
          </a:p>
        </p:txBody>
      </p:sp>
      <p:sp>
        <p:nvSpPr>
          <p:cNvPr id="61" name="Rectangle: Rounded Corners 60">
            <a:extLst>
              <a:ext uri="{FF2B5EF4-FFF2-40B4-BE49-F238E27FC236}">
                <a16:creationId xmlns:a16="http://schemas.microsoft.com/office/drawing/2014/main" id="{FBFB8F84-7FE9-1277-BFF2-F1B4A88027D8}"/>
              </a:ext>
            </a:extLst>
          </p:cNvPr>
          <p:cNvSpPr/>
          <p:nvPr/>
        </p:nvSpPr>
        <p:spPr>
          <a:xfrm>
            <a:off x="381000" y="5270500"/>
            <a:ext cx="11430000" cy="889000"/>
          </a:xfrm>
          <a:prstGeom prst="roundRect">
            <a:avLst/>
          </a:prstGeom>
          <a:solidFill>
            <a:srgbClr val="1E29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2" name="Rectangle: Rounded Corners 61">
            <a:extLst>
              <a:ext uri="{FF2B5EF4-FFF2-40B4-BE49-F238E27FC236}">
                <a16:creationId xmlns:a16="http://schemas.microsoft.com/office/drawing/2014/main" id="{47EC0F07-40E4-9774-B746-21CE79B40623}"/>
              </a:ext>
            </a:extLst>
          </p:cNvPr>
          <p:cNvSpPr/>
          <p:nvPr/>
        </p:nvSpPr>
        <p:spPr>
          <a:xfrm>
            <a:off x="508000" y="5359400"/>
            <a:ext cx="3810000" cy="254000"/>
          </a:xfrm>
          <a:prstGeom prst="round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00" b="1">
                <a:solidFill>
                  <a:srgbClr val="FFFFFF"/>
                </a:solidFill>
                <a:latin typeface="Segoe UI" panose="020B0502040204020203" pitchFamily="34" charset="0"/>
              </a:rPr>
              <a:t>MONITORING, ORCHESTRATION &amp; QUALITY ASSURANCE</a:t>
            </a:r>
          </a:p>
        </p:txBody>
      </p:sp>
      <p:sp>
        <p:nvSpPr>
          <p:cNvPr id="63" name="TextBox 62">
            <a:extLst>
              <a:ext uri="{FF2B5EF4-FFF2-40B4-BE49-F238E27FC236}">
                <a16:creationId xmlns:a16="http://schemas.microsoft.com/office/drawing/2014/main" id="{174ABCF1-B163-A87C-29F5-7F8F1F607427}"/>
              </a:ext>
            </a:extLst>
          </p:cNvPr>
          <p:cNvSpPr txBox="1"/>
          <p:nvPr/>
        </p:nvSpPr>
        <p:spPr>
          <a:xfrm>
            <a:off x="508000" y="5651500"/>
            <a:ext cx="11176000" cy="334451"/>
          </a:xfrm>
          <a:prstGeom prst="rect">
            <a:avLst/>
          </a:prstGeom>
          <a:noFill/>
        </p:spPr>
        <p:txBody>
          <a:bodyPr vert="horz" wrap="square" lIns="25400" tIns="25400" rIns="25400" bIns="25400" rtlCol="0">
            <a:spAutoFit/>
          </a:bodyPr>
          <a:lstStyle/>
          <a:p>
            <a:r>
              <a:rPr lang="vi-VN" sz="920">
                <a:solidFill>
                  <a:srgbClr val="FFFFFF"/>
                </a:solidFill>
                <a:latin typeface="Segoe UI" panose="020B0502040204020203" pitchFamily="34" charset="0"/>
              </a:rPr>
              <a:t>🔄 Apache Airflow: Lập lịch DAGs tự động hóa batch pipeline   |   🔥 Prometheus: Thu thập hệ thống metrics độ trễ &amp; throughput
📊 Grafana: Bảng quan sát trực quan hóa tài nguyên CPU/RAM/Kafka   |   🧪 Pytest Suite: 65+ kiểm thử tự động (Unit, Contract, E2E)</a:t>
            </a:r>
          </a:p>
        </p:txBody>
      </p:sp>
    </p:spTree>
    <p:extLst>
      <p:ext uri="{BB962C8B-B14F-4D97-AF65-F5344CB8AC3E}">
        <p14:creationId xmlns:p14="http://schemas.microsoft.com/office/powerpoint/2010/main" val="258571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D2E557-151F-C038-2B80-9F3F98161A5E}"/>
              </a:ext>
            </a:extLst>
          </p:cNvPr>
          <p:cNvSpPr>
            <a:spLocks noGrp="1"/>
          </p:cNvSpPr>
          <p:nvPr>
            <p:ph type="sldNum" sz="quarter" idx="12"/>
          </p:nvPr>
        </p:nvSpPr>
        <p:spPr/>
        <p:txBody>
          <a:bodyPr/>
          <a:lstStyle/>
          <a:p>
            <a:r>
              <a:rPr lang="en-US">
                <a:solidFill>
                  <a:srgbClr val="BA0C2F"/>
                </a:solidFill>
                <a:latin typeface="Segoe UI" panose="020B0502040204020203" pitchFamily="34" charset="0"/>
              </a:rPr>
              <a:t>5</a:t>
            </a:r>
            <a:endParaRPr lang="en-US" dirty="0">
              <a:solidFill>
                <a:srgbClr val="BA0C2F"/>
              </a:solidFill>
              <a:latin typeface="Segoe UI" panose="020B0502040204020203" pitchFamily="34" charset="0"/>
            </a:endParaRPr>
          </a:p>
        </p:txBody>
      </p:sp>
      <p:sp>
        <p:nvSpPr>
          <p:cNvPr id="3" name="Title 2">
            <a:extLst>
              <a:ext uri="{FF2B5EF4-FFF2-40B4-BE49-F238E27FC236}">
                <a16:creationId xmlns:a16="http://schemas.microsoft.com/office/drawing/2014/main" id="{334D06D3-6829-A7C5-A460-676F1D61A407}"/>
              </a:ext>
            </a:extLst>
          </p:cNvPr>
          <p:cNvSpPr>
            <a:spLocks noGrp="1"/>
          </p:cNvSpPr>
          <p:nvPr>
            <p:ph type="title"/>
          </p:nvPr>
        </p:nvSpPr>
        <p:spPr/>
        <p:txBody>
          <a:bodyPr/>
          <a:lstStyle/>
          <a:p>
            <a:r>
              <a:rPr lang="vi-VN" sz="2000">
                <a:solidFill>
                  <a:srgbClr val="FFFFFF"/>
                </a:solidFill>
                <a:latin typeface="Segoe UI" panose="020B0502040204020203" pitchFamily="34" charset="0"/>
              </a:rPr>
              <a:t>5. DỮ LIỆU ĐẦU VÀO &amp; NGUỒN THU THẬP</a:t>
            </a:r>
          </a:p>
        </p:txBody>
      </p:sp>
      <p:sp>
        <p:nvSpPr>
          <p:cNvPr id="5" name="Rectangle: Rounded Corners 4">
            <a:extLst>
              <a:ext uri="{FF2B5EF4-FFF2-40B4-BE49-F238E27FC236}">
                <a16:creationId xmlns:a16="http://schemas.microsoft.com/office/drawing/2014/main" id="{510FC497-854A-B3BC-C00A-3DB2FE1BAED2}"/>
              </a:ext>
            </a:extLst>
          </p:cNvPr>
          <p:cNvSpPr/>
          <p:nvPr/>
        </p:nvSpPr>
        <p:spPr>
          <a:xfrm>
            <a:off x="381000" y="736600"/>
            <a:ext cx="5524500" cy="33655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ectangle 5">
            <a:extLst>
              <a:ext uri="{FF2B5EF4-FFF2-40B4-BE49-F238E27FC236}">
                <a16:creationId xmlns:a16="http://schemas.microsoft.com/office/drawing/2014/main" id="{929604F2-9BA3-A78A-38D2-B3BAAD9C8DB2}"/>
              </a:ext>
            </a:extLst>
          </p:cNvPr>
          <p:cNvSpPr/>
          <p:nvPr/>
        </p:nvSpPr>
        <p:spPr>
          <a:xfrm>
            <a:off x="381000" y="736600"/>
            <a:ext cx="5524500" cy="381000"/>
          </a:xfrm>
          <a:prstGeom prst="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TextBox 6">
            <a:extLst>
              <a:ext uri="{FF2B5EF4-FFF2-40B4-BE49-F238E27FC236}">
                <a16:creationId xmlns:a16="http://schemas.microsoft.com/office/drawing/2014/main" id="{286E4FAF-069C-49AC-E151-F601FBE5A52D}"/>
              </a:ext>
            </a:extLst>
          </p:cNvPr>
          <p:cNvSpPr txBox="1"/>
          <p:nvPr/>
        </p:nvSpPr>
        <p:spPr>
          <a:xfrm>
            <a:off x="508000" y="800100"/>
            <a:ext cx="5270500" cy="220573"/>
          </a:xfrm>
          <a:prstGeom prst="rect">
            <a:avLst/>
          </a:prstGeom>
          <a:noFill/>
        </p:spPr>
        <p:txBody>
          <a:bodyPr vert="horz" wrap="square" lIns="25400" tIns="25400" rIns="25400" bIns="25400" rtlCol="0">
            <a:spAutoFit/>
          </a:bodyPr>
          <a:lstStyle/>
          <a:p>
            <a:pPr algn="ctr"/>
            <a:r>
              <a:rPr lang="vi-VN" sz="1100" b="1">
                <a:solidFill>
                  <a:srgbClr val="FFFFFF"/>
                </a:solidFill>
                <a:latin typeface="Segoe UI" panose="020B0502040204020203" pitchFamily="34" charset="0"/>
              </a:rPr>
              <a:t>5.1. NGUỒN THU THẬP DỮ LIỆU (DATA SOURCES)</a:t>
            </a:r>
          </a:p>
        </p:txBody>
      </p:sp>
      <p:sp>
        <p:nvSpPr>
          <p:cNvPr id="8" name="Rectangle: Rounded Corners 7">
            <a:extLst>
              <a:ext uri="{FF2B5EF4-FFF2-40B4-BE49-F238E27FC236}">
                <a16:creationId xmlns:a16="http://schemas.microsoft.com/office/drawing/2014/main" id="{4C8AAFDF-CF4F-6103-B8F2-1F6605EB9F01}"/>
              </a:ext>
            </a:extLst>
          </p:cNvPr>
          <p:cNvSpPr/>
          <p:nvPr/>
        </p:nvSpPr>
        <p:spPr>
          <a:xfrm>
            <a:off x="508000" y="1219200"/>
            <a:ext cx="5270500" cy="914400"/>
          </a:xfrm>
          <a:prstGeom prst="roundRect">
            <a:avLst/>
          </a:prstGeom>
          <a:solidFill>
            <a:srgbClr val="FFFFFF"/>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Rectangle: Rounded Corners 8">
            <a:extLst>
              <a:ext uri="{FF2B5EF4-FFF2-40B4-BE49-F238E27FC236}">
                <a16:creationId xmlns:a16="http://schemas.microsoft.com/office/drawing/2014/main" id="{C953DA87-6C5F-838D-060A-AC48D01F8010}"/>
              </a:ext>
            </a:extLst>
          </p:cNvPr>
          <p:cNvSpPr/>
          <p:nvPr/>
        </p:nvSpPr>
        <p:spPr>
          <a:xfrm>
            <a:off x="609600" y="1270000"/>
            <a:ext cx="2540000" cy="2286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BA0C2F"/>
                </a:solidFill>
                <a:latin typeface="Segoe UI" panose="020B0502040204020203" pitchFamily="34" charset="0"/>
              </a:rPr>
              <a:t>🛒 E-Commerce &amp; Forum Crawlers</a:t>
            </a:r>
          </a:p>
        </p:txBody>
      </p:sp>
      <p:sp>
        <p:nvSpPr>
          <p:cNvPr id="10" name="TextBox 9">
            <a:extLst>
              <a:ext uri="{FF2B5EF4-FFF2-40B4-BE49-F238E27FC236}">
                <a16:creationId xmlns:a16="http://schemas.microsoft.com/office/drawing/2014/main" id="{F5DAE7E8-0B61-D6C5-BF9E-CE2EBA956FEE}"/>
              </a:ext>
            </a:extLst>
          </p:cNvPr>
          <p:cNvSpPr txBox="1"/>
          <p:nvPr/>
        </p:nvSpPr>
        <p:spPr>
          <a:xfrm>
            <a:off x="609600" y="1524000"/>
            <a:ext cx="5054600" cy="334451"/>
          </a:xfrm>
          <a:prstGeom prst="rect">
            <a:avLst/>
          </a:prstGeom>
          <a:noFill/>
        </p:spPr>
        <p:txBody>
          <a:bodyPr vert="horz" wrap="square" lIns="25400" tIns="25400" rIns="25400" bIns="25400" rtlCol="0">
            <a:spAutoFit/>
          </a:bodyPr>
          <a:lstStyle/>
          <a:p>
            <a:r>
              <a:rPr lang="vi-VN" sz="920">
                <a:solidFill>
                  <a:srgbClr val="1E293B"/>
                </a:solidFill>
                <a:latin typeface="Segoe UI" panose="020B0502040204020203" pitchFamily="34" charset="0"/>
              </a:rPr>
              <a:t>Thu thập danh mục sản phẩm, biến động giá và đánh giá từ Tiki &amp; các sàn TMĐT. Cơ chế tuân thủ robots.txt, exponential backoff, rate limit và ẩn danh hóa user_id.</a:t>
            </a:r>
          </a:p>
        </p:txBody>
      </p:sp>
      <p:sp>
        <p:nvSpPr>
          <p:cNvPr id="11" name="Rectangle: Rounded Corners 10">
            <a:extLst>
              <a:ext uri="{FF2B5EF4-FFF2-40B4-BE49-F238E27FC236}">
                <a16:creationId xmlns:a16="http://schemas.microsoft.com/office/drawing/2014/main" id="{8388D297-CED2-5D3E-9C16-589D6651A30B}"/>
              </a:ext>
            </a:extLst>
          </p:cNvPr>
          <p:cNvSpPr/>
          <p:nvPr/>
        </p:nvSpPr>
        <p:spPr>
          <a:xfrm>
            <a:off x="508000" y="2209800"/>
            <a:ext cx="5270500" cy="914400"/>
          </a:xfrm>
          <a:prstGeom prst="roundRect">
            <a:avLst/>
          </a:prstGeom>
          <a:solidFill>
            <a:srgbClr val="FFFFFF"/>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Rounded Corners 11">
            <a:extLst>
              <a:ext uri="{FF2B5EF4-FFF2-40B4-BE49-F238E27FC236}">
                <a16:creationId xmlns:a16="http://schemas.microsoft.com/office/drawing/2014/main" id="{52A19D97-4C6B-7081-C467-4E00D1E7BEA8}"/>
              </a:ext>
            </a:extLst>
          </p:cNvPr>
          <p:cNvSpPr/>
          <p:nvPr/>
        </p:nvSpPr>
        <p:spPr>
          <a:xfrm>
            <a:off x="609600" y="2260600"/>
            <a:ext cx="2540000" cy="228600"/>
          </a:xfrm>
          <a:prstGeom prst="roundRect">
            <a:avLst/>
          </a:prstGeom>
          <a:solidFill>
            <a:srgbClr val="FEF9C3"/>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D97706"/>
                </a:solidFill>
                <a:latin typeface="Segoe UI" panose="020B0502040204020203" pitchFamily="34" charset="0"/>
              </a:rPr>
              <a:t>📁 Public Datasets (Đa định dạng)</a:t>
            </a:r>
          </a:p>
        </p:txBody>
      </p:sp>
      <p:sp>
        <p:nvSpPr>
          <p:cNvPr id="13" name="TextBox 12">
            <a:extLst>
              <a:ext uri="{FF2B5EF4-FFF2-40B4-BE49-F238E27FC236}">
                <a16:creationId xmlns:a16="http://schemas.microsoft.com/office/drawing/2014/main" id="{5A07BF50-EF4E-8568-6851-427ED1DD4C1B}"/>
              </a:ext>
            </a:extLst>
          </p:cNvPr>
          <p:cNvSpPr txBox="1"/>
          <p:nvPr/>
        </p:nvSpPr>
        <p:spPr>
          <a:xfrm>
            <a:off x="609600" y="2514600"/>
            <a:ext cx="5054600" cy="334451"/>
          </a:xfrm>
          <a:prstGeom prst="rect">
            <a:avLst/>
          </a:prstGeom>
          <a:noFill/>
        </p:spPr>
        <p:txBody>
          <a:bodyPr vert="horz" wrap="square" lIns="25400" tIns="25400" rIns="25400" bIns="25400" rtlCol="0">
            <a:spAutoFit/>
          </a:bodyPr>
          <a:lstStyle/>
          <a:p>
            <a:r>
              <a:rPr lang="vi-VN" sz="920">
                <a:solidFill>
                  <a:srgbClr val="1E293B"/>
                </a:solidFill>
                <a:latin typeface="Segoe UI" panose="020B0502040204020203" pitchFamily="34" charset="0"/>
              </a:rPr>
              <a:t>Đọc và xử lý tập dữ liệu lớn định dạng CSV, JSON, JSONL, Parquet phục vụ phân tích lịch sử biến động dài hạn và kiểm thử tải trọng lớn (100K ➔ 1.000.000+ bản ghi).</a:t>
            </a:r>
          </a:p>
        </p:txBody>
      </p:sp>
      <p:sp>
        <p:nvSpPr>
          <p:cNvPr id="14" name="Rectangle: Rounded Corners 13">
            <a:extLst>
              <a:ext uri="{FF2B5EF4-FFF2-40B4-BE49-F238E27FC236}">
                <a16:creationId xmlns:a16="http://schemas.microsoft.com/office/drawing/2014/main" id="{C0807EDC-FAEE-6F83-2F7D-9F9E4F40A651}"/>
              </a:ext>
            </a:extLst>
          </p:cNvPr>
          <p:cNvSpPr/>
          <p:nvPr/>
        </p:nvSpPr>
        <p:spPr>
          <a:xfrm>
            <a:off x="508000" y="3200400"/>
            <a:ext cx="5270500" cy="825500"/>
          </a:xfrm>
          <a:prstGeom prst="roundRect">
            <a:avLst/>
          </a:prstGeom>
          <a:solidFill>
            <a:srgbClr val="FFFFFF"/>
          </a:solidFill>
          <a:ln w="1270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Rectangle: Rounded Corners 14">
            <a:extLst>
              <a:ext uri="{FF2B5EF4-FFF2-40B4-BE49-F238E27FC236}">
                <a16:creationId xmlns:a16="http://schemas.microsoft.com/office/drawing/2014/main" id="{8D89CB77-80D0-93FA-0921-5154C113BA98}"/>
              </a:ext>
            </a:extLst>
          </p:cNvPr>
          <p:cNvSpPr/>
          <p:nvPr/>
        </p:nvSpPr>
        <p:spPr>
          <a:xfrm>
            <a:off x="609600" y="3251200"/>
            <a:ext cx="2540000" cy="228600"/>
          </a:xfrm>
          <a:prstGeom prst="roundRect">
            <a:avLst/>
          </a:prstGeom>
          <a:solidFill>
            <a:srgbClr val="EFF6FF"/>
          </a:solidFill>
          <a:ln w="1270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0284C7"/>
                </a:solidFill>
                <a:latin typeface="Segoe UI" panose="020B0502040204020203" pitchFamily="34" charset="0"/>
              </a:rPr>
              <a:t>⏱️ Historical Replay &amp; Simulation</a:t>
            </a:r>
          </a:p>
        </p:txBody>
      </p:sp>
      <p:sp>
        <p:nvSpPr>
          <p:cNvPr id="16" name="TextBox 15">
            <a:extLst>
              <a:ext uri="{FF2B5EF4-FFF2-40B4-BE49-F238E27FC236}">
                <a16:creationId xmlns:a16="http://schemas.microsoft.com/office/drawing/2014/main" id="{3C4E4667-F164-5663-F350-0253F1FD3B37}"/>
              </a:ext>
            </a:extLst>
          </p:cNvPr>
          <p:cNvSpPr txBox="1"/>
          <p:nvPr/>
        </p:nvSpPr>
        <p:spPr>
          <a:xfrm>
            <a:off x="609600" y="3505200"/>
            <a:ext cx="5054600" cy="334451"/>
          </a:xfrm>
          <a:prstGeom prst="rect">
            <a:avLst/>
          </a:prstGeom>
          <a:noFill/>
        </p:spPr>
        <p:txBody>
          <a:bodyPr vert="horz" wrap="square" lIns="25400" tIns="25400" rIns="25400" bIns="25400" rtlCol="0">
            <a:spAutoFit/>
          </a:bodyPr>
          <a:lstStyle/>
          <a:p>
            <a:r>
              <a:rPr lang="vi-VN" sz="920">
                <a:solidFill>
                  <a:srgbClr val="1E293B"/>
                </a:solidFill>
                <a:latin typeface="Segoe UI" panose="020B0502040204020203" pitchFamily="34" charset="0"/>
              </a:rPr>
              <a:t>Cơ chế mô phỏng phát lại luồng sự kiện thời gian thực từ dữ liệu tĩnh, tốc độ tùy biến từ 10 ➔ 1.000 sự kiện/giây nhằm benchmark hệ thống phát hiện bất thường.</a:t>
            </a:r>
          </a:p>
        </p:txBody>
      </p:sp>
      <p:sp>
        <p:nvSpPr>
          <p:cNvPr id="17" name="Rectangle: Rounded Corners 16">
            <a:extLst>
              <a:ext uri="{FF2B5EF4-FFF2-40B4-BE49-F238E27FC236}">
                <a16:creationId xmlns:a16="http://schemas.microsoft.com/office/drawing/2014/main" id="{C70AB39F-0533-3245-CEAE-FC03662C77C8}"/>
              </a:ext>
            </a:extLst>
          </p:cNvPr>
          <p:cNvSpPr/>
          <p:nvPr/>
        </p:nvSpPr>
        <p:spPr>
          <a:xfrm>
            <a:off x="6159500" y="736600"/>
            <a:ext cx="5651500" cy="15875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85FEFA2C-9539-5551-3375-43E430246B93}"/>
              </a:ext>
            </a:extLst>
          </p:cNvPr>
          <p:cNvSpPr/>
          <p:nvPr/>
        </p:nvSpPr>
        <p:spPr>
          <a:xfrm>
            <a:off x="6159500" y="736600"/>
            <a:ext cx="5651500" cy="355600"/>
          </a:xfrm>
          <a:prstGeom prst="rect">
            <a:avLst/>
          </a:prstGeom>
          <a:solidFill>
            <a:srgbClr val="1E29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TextBox 18">
            <a:extLst>
              <a:ext uri="{FF2B5EF4-FFF2-40B4-BE49-F238E27FC236}">
                <a16:creationId xmlns:a16="http://schemas.microsoft.com/office/drawing/2014/main" id="{0FB38534-98E6-8279-B5A9-443CB4F9381B}"/>
              </a:ext>
            </a:extLst>
          </p:cNvPr>
          <p:cNvSpPr txBox="1"/>
          <p:nvPr/>
        </p:nvSpPr>
        <p:spPr>
          <a:xfrm>
            <a:off x="6286500" y="787400"/>
            <a:ext cx="5397500" cy="212879"/>
          </a:xfrm>
          <a:prstGeom prst="rect">
            <a:avLst/>
          </a:prstGeom>
          <a:noFill/>
        </p:spPr>
        <p:txBody>
          <a:bodyPr vert="horz" wrap="square" lIns="25400" tIns="25400" rIns="25400" bIns="25400" rtlCol="0">
            <a:spAutoFit/>
          </a:bodyPr>
          <a:lstStyle/>
          <a:p>
            <a:pPr algn="ctr"/>
            <a:r>
              <a:rPr lang="vi-VN" sz="1050" b="1">
                <a:solidFill>
                  <a:srgbClr val="FFFFFF"/>
                </a:solidFill>
                <a:latin typeface="Segoe UI" panose="020B0502040204020203" pitchFamily="34" charset="0"/>
              </a:rPr>
              <a:t>5.2. CÁC THỰC THỂ DỮ LIỆU CHÍNH (CORE ENTITIES)</a:t>
            </a:r>
          </a:p>
        </p:txBody>
      </p:sp>
      <p:sp>
        <p:nvSpPr>
          <p:cNvPr id="20" name="Rectangle: Rounded Corners 19">
            <a:extLst>
              <a:ext uri="{FF2B5EF4-FFF2-40B4-BE49-F238E27FC236}">
                <a16:creationId xmlns:a16="http://schemas.microsoft.com/office/drawing/2014/main" id="{D8BD665E-65DD-EF4B-E9FB-C16941FF434C}"/>
              </a:ext>
            </a:extLst>
          </p:cNvPr>
          <p:cNvSpPr/>
          <p:nvPr/>
        </p:nvSpPr>
        <p:spPr>
          <a:xfrm>
            <a:off x="6286500" y="1168400"/>
            <a:ext cx="1270000" cy="10668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TextBox 20">
            <a:extLst>
              <a:ext uri="{FF2B5EF4-FFF2-40B4-BE49-F238E27FC236}">
                <a16:creationId xmlns:a16="http://schemas.microsoft.com/office/drawing/2014/main" id="{EA25D208-13E0-BB2C-4FEE-38C4BC9F69D6}"/>
              </a:ext>
            </a:extLst>
          </p:cNvPr>
          <p:cNvSpPr txBox="1"/>
          <p:nvPr/>
        </p:nvSpPr>
        <p:spPr>
          <a:xfrm>
            <a:off x="6324600" y="1219200"/>
            <a:ext cx="1193800" cy="728405"/>
          </a:xfrm>
          <a:prstGeom prst="rect">
            <a:avLst/>
          </a:prstGeom>
          <a:noFill/>
        </p:spPr>
        <p:txBody>
          <a:bodyPr vert="horz" wrap="square" lIns="25400" tIns="25400" rIns="25400" bIns="25400" rtlCol="0">
            <a:spAutoFit/>
          </a:bodyPr>
          <a:lstStyle/>
          <a:p>
            <a:pPr algn="ctr"/>
            <a:r>
              <a:rPr lang="en-US" sz="880">
                <a:solidFill>
                  <a:srgbClr val="1E293B"/>
                </a:solidFill>
                <a:latin typeface="Segoe UI" panose="020B0502040204020203" pitchFamily="34" charset="0"/>
              </a:rPr>
              <a:t>📦 PRODUCTS
• product_id
• name, brand
• category_id
• list_price</a:t>
            </a:r>
            <a:endParaRPr lang="vi-VN" sz="880">
              <a:solidFill>
                <a:srgbClr val="1E293B"/>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36A40BCE-34F3-9047-5614-796391E7E87E}"/>
              </a:ext>
            </a:extLst>
          </p:cNvPr>
          <p:cNvSpPr/>
          <p:nvPr/>
        </p:nvSpPr>
        <p:spPr>
          <a:xfrm>
            <a:off x="7683500" y="1168400"/>
            <a:ext cx="1270000" cy="10668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TextBox 22">
            <a:extLst>
              <a:ext uri="{FF2B5EF4-FFF2-40B4-BE49-F238E27FC236}">
                <a16:creationId xmlns:a16="http://schemas.microsoft.com/office/drawing/2014/main" id="{F21C783F-1BB0-5336-2B29-AB6D49A6EA83}"/>
              </a:ext>
            </a:extLst>
          </p:cNvPr>
          <p:cNvSpPr txBox="1"/>
          <p:nvPr/>
        </p:nvSpPr>
        <p:spPr>
          <a:xfrm>
            <a:off x="7721600" y="1219200"/>
            <a:ext cx="1193800" cy="728405"/>
          </a:xfrm>
          <a:prstGeom prst="rect">
            <a:avLst/>
          </a:prstGeom>
          <a:noFill/>
        </p:spPr>
        <p:txBody>
          <a:bodyPr vert="horz" wrap="square" lIns="25400" tIns="25400" rIns="25400" bIns="25400" rtlCol="0">
            <a:spAutoFit/>
          </a:bodyPr>
          <a:lstStyle/>
          <a:p>
            <a:pPr algn="ctr"/>
            <a:r>
              <a:rPr lang="en-US" sz="880">
                <a:solidFill>
                  <a:srgbClr val="1E293B"/>
                </a:solidFill>
                <a:latin typeface="Segoe UI" panose="020B0502040204020203" pitchFamily="34" charset="0"/>
              </a:rPr>
              <a:t>⭐ REVIEWS
• review_id
• rating (1-5)
• comment text
• created_time</a:t>
            </a:r>
            <a:endParaRPr lang="vi-VN" sz="880">
              <a:solidFill>
                <a:srgbClr val="1E293B"/>
              </a:solidFill>
              <a:latin typeface="Segoe UI" panose="020B0502040204020203" pitchFamily="34" charset="0"/>
            </a:endParaRPr>
          </a:p>
        </p:txBody>
      </p:sp>
      <p:sp>
        <p:nvSpPr>
          <p:cNvPr id="24" name="Rectangle: Rounded Corners 23">
            <a:extLst>
              <a:ext uri="{FF2B5EF4-FFF2-40B4-BE49-F238E27FC236}">
                <a16:creationId xmlns:a16="http://schemas.microsoft.com/office/drawing/2014/main" id="{CD56A92E-649B-A5CD-B65E-E0D76D322136}"/>
              </a:ext>
            </a:extLst>
          </p:cNvPr>
          <p:cNvSpPr/>
          <p:nvPr/>
        </p:nvSpPr>
        <p:spPr>
          <a:xfrm>
            <a:off x="9080500" y="1168400"/>
            <a:ext cx="1270000" cy="10668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TextBox 24">
            <a:extLst>
              <a:ext uri="{FF2B5EF4-FFF2-40B4-BE49-F238E27FC236}">
                <a16:creationId xmlns:a16="http://schemas.microsoft.com/office/drawing/2014/main" id="{84779120-AC2E-AD30-AB39-A3A6982021B4}"/>
              </a:ext>
            </a:extLst>
          </p:cNvPr>
          <p:cNvSpPr txBox="1"/>
          <p:nvPr/>
        </p:nvSpPr>
        <p:spPr>
          <a:xfrm>
            <a:off x="9118600" y="1219200"/>
            <a:ext cx="1193800" cy="728405"/>
          </a:xfrm>
          <a:prstGeom prst="rect">
            <a:avLst/>
          </a:prstGeom>
          <a:noFill/>
        </p:spPr>
        <p:txBody>
          <a:bodyPr vert="horz" wrap="square" lIns="25400" tIns="25400" rIns="25400" bIns="25400" rtlCol="0">
            <a:spAutoFit/>
          </a:bodyPr>
          <a:lstStyle/>
          <a:p>
            <a:pPr algn="ctr"/>
            <a:r>
              <a:rPr lang="en-US" sz="880">
                <a:solidFill>
                  <a:srgbClr val="1E293B"/>
                </a:solidFill>
                <a:latin typeface="Segoe UI" panose="020B0502040204020203" pitchFamily="34" charset="0"/>
              </a:rPr>
              <a:t>💰 PRICES
• product_id
• current_price
• discount_pct
• recorded_at</a:t>
            </a:r>
            <a:endParaRPr lang="vi-VN" sz="880">
              <a:solidFill>
                <a:srgbClr val="1E293B"/>
              </a:solidFill>
              <a:latin typeface="Segoe UI" panose="020B0502040204020203" pitchFamily="34" charset="0"/>
            </a:endParaRPr>
          </a:p>
        </p:txBody>
      </p:sp>
      <p:sp>
        <p:nvSpPr>
          <p:cNvPr id="26" name="Rectangle: Rounded Corners 25">
            <a:extLst>
              <a:ext uri="{FF2B5EF4-FFF2-40B4-BE49-F238E27FC236}">
                <a16:creationId xmlns:a16="http://schemas.microsoft.com/office/drawing/2014/main" id="{5A92E326-D743-BE9A-A19E-2BEBD6680419}"/>
              </a:ext>
            </a:extLst>
          </p:cNvPr>
          <p:cNvSpPr/>
          <p:nvPr/>
        </p:nvSpPr>
        <p:spPr>
          <a:xfrm>
            <a:off x="10477500" y="1168400"/>
            <a:ext cx="1206500" cy="10668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7" name="TextBox 26">
            <a:extLst>
              <a:ext uri="{FF2B5EF4-FFF2-40B4-BE49-F238E27FC236}">
                <a16:creationId xmlns:a16="http://schemas.microsoft.com/office/drawing/2014/main" id="{70FE492E-3FF9-32EB-DB1A-93245F143025}"/>
              </a:ext>
            </a:extLst>
          </p:cNvPr>
          <p:cNvSpPr txBox="1"/>
          <p:nvPr/>
        </p:nvSpPr>
        <p:spPr>
          <a:xfrm>
            <a:off x="10515600" y="1219200"/>
            <a:ext cx="1130300" cy="728405"/>
          </a:xfrm>
          <a:prstGeom prst="rect">
            <a:avLst/>
          </a:prstGeom>
          <a:noFill/>
        </p:spPr>
        <p:txBody>
          <a:bodyPr vert="horz" wrap="square" lIns="25400" tIns="25400" rIns="25400" bIns="25400" rtlCol="0">
            <a:spAutoFit/>
          </a:bodyPr>
          <a:lstStyle/>
          <a:p>
            <a:pPr algn="ctr"/>
            <a:r>
              <a:rPr lang="vi-VN" sz="880">
                <a:solidFill>
                  <a:srgbClr val="1E293B"/>
                </a:solidFill>
                <a:latin typeface="Segoe UI" panose="020B0502040204020203" pitchFamily="34" charset="0"/>
              </a:rPr>
              <a:t>⚡ EVENTS
• event_id
• entity_type
• status
• audit_trail</a:t>
            </a:r>
          </a:p>
        </p:txBody>
      </p:sp>
      <p:sp>
        <p:nvSpPr>
          <p:cNvPr id="28" name="Rectangle: Rounded Corners 27">
            <a:extLst>
              <a:ext uri="{FF2B5EF4-FFF2-40B4-BE49-F238E27FC236}">
                <a16:creationId xmlns:a16="http://schemas.microsoft.com/office/drawing/2014/main" id="{E15C9ACF-1110-C1E8-1D08-A3D3A1E467E3}"/>
              </a:ext>
            </a:extLst>
          </p:cNvPr>
          <p:cNvSpPr/>
          <p:nvPr/>
        </p:nvSpPr>
        <p:spPr>
          <a:xfrm>
            <a:off x="6159500" y="2438400"/>
            <a:ext cx="5651500" cy="16637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9" name="Rectangle 28">
            <a:extLst>
              <a:ext uri="{FF2B5EF4-FFF2-40B4-BE49-F238E27FC236}">
                <a16:creationId xmlns:a16="http://schemas.microsoft.com/office/drawing/2014/main" id="{1564DF5B-790C-792E-BDD1-3203BE32B201}"/>
              </a:ext>
            </a:extLst>
          </p:cNvPr>
          <p:cNvSpPr/>
          <p:nvPr/>
        </p:nvSpPr>
        <p:spPr>
          <a:xfrm>
            <a:off x="6159500" y="2438400"/>
            <a:ext cx="5651500" cy="355600"/>
          </a:xfrm>
          <a:prstGeom prst="rect">
            <a:avLst/>
          </a:prstGeom>
          <a:solidFill>
            <a:srgbClr val="D9770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TextBox 29">
            <a:extLst>
              <a:ext uri="{FF2B5EF4-FFF2-40B4-BE49-F238E27FC236}">
                <a16:creationId xmlns:a16="http://schemas.microsoft.com/office/drawing/2014/main" id="{8064C313-5D99-1B5D-1E6C-082CFA980A20}"/>
              </a:ext>
            </a:extLst>
          </p:cNvPr>
          <p:cNvSpPr txBox="1"/>
          <p:nvPr/>
        </p:nvSpPr>
        <p:spPr>
          <a:xfrm>
            <a:off x="6286500" y="2489200"/>
            <a:ext cx="5397500" cy="212879"/>
          </a:xfrm>
          <a:prstGeom prst="rect">
            <a:avLst/>
          </a:prstGeom>
          <a:noFill/>
        </p:spPr>
        <p:txBody>
          <a:bodyPr vert="horz" wrap="square" lIns="25400" tIns="25400" rIns="25400" bIns="25400" rtlCol="0">
            <a:spAutoFit/>
          </a:bodyPr>
          <a:lstStyle/>
          <a:p>
            <a:pPr algn="ctr"/>
            <a:r>
              <a:rPr lang="vi-VN" sz="1050" b="1">
                <a:solidFill>
                  <a:srgbClr val="FFFFFF"/>
                </a:solidFill>
                <a:latin typeface="Segoe UI" panose="020B0502040204020203" pitchFamily="34" charset="0"/>
              </a:rPr>
              <a:t>5.3. PHÂN LUỒNG TIẾP NHẬN QUA KAFKA TOPICS</a:t>
            </a:r>
          </a:p>
        </p:txBody>
      </p:sp>
      <p:sp>
        <p:nvSpPr>
          <p:cNvPr id="31" name="Rectangle: Rounded Corners 30">
            <a:extLst>
              <a:ext uri="{FF2B5EF4-FFF2-40B4-BE49-F238E27FC236}">
                <a16:creationId xmlns:a16="http://schemas.microsoft.com/office/drawing/2014/main" id="{9AEA74F8-1A70-F26F-BF77-8CCF4B3DA77A}"/>
              </a:ext>
            </a:extLst>
          </p:cNvPr>
          <p:cNvSpPr/>
          <p:nvPr/>
        </p:nvSpPr>
        <p:spPr>
          <a:xfrm>
            <a:off x="6286500" y="2895600"/>
            <a:ext cx="2603500" cy="508000"/>
          </a:xfrm>
          <a:prstGeom prst="roundRect">
            <a:avLst/>
          </a:prstGeom>
          <a:solidFill>
            <a:srgbClr val="FEF2F2"/>
          </a:solidFill>
          <a:ln w="1270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BA0C2F"/>
                </a:solidFill>
                <a:latin typeface="Segoe UI" panose="020B0502040204020203" pitchFamily="34" charset="0"/>
              </a:rPr>
              <a:t>raw.products
Schema: ProductSnapshot</a:t>
            </a:r>
          </a:p>
        </p:txBody>
      </p:sp>
      <p:sp>
        <p:nvSpPr>
          <p:cNvPr id="32" name="Rectangle: Rounded Corners 31">
            <a:extLst>
              <a:ext uri="{FF2B5EF4-FFF2-40B4-BE49-F238E27FC236}">
                <a16:creationId xmlns:a16="http://schemas.microsoft.com/office/drawing/2014/main" id="{ACB953F7-9FB1-2DA4-0048-D32A1350AE98}"/>
              </a:ext>
            </a:extLst>
          </p:cNvPr>
          <p:cNvSpPr/>
          <p:nvPr/>
        </p:nvSpPr>
        <p:spPr>
          <a:xfrm>
            <a:off x="9080500" y="2895600"/>
            <a:ext cx="2603500" cy="508000"/>
          </a:xfrm>
          <a:prstGeom prst="roundRect">
            <a:avLst/>
          </a:prstGeom>
          <a:solidFill>
            <a:srgbClr val="FEF9C3"/>
          </a:solidFill>
          <a:ln w="12700">
            <a:solidFill>
              <a:srgbClr val="FCD34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D97706"/>
                </a:solidFill>
                <a:latin typeface="Segoe UI" panose="020B0502040204020203" pitchFamily="34" charset="0"/>
              </a:rPr>
              <a:t>raw.reviews
Schema: ReviewEvent</a:t>
            </a:r>
          </a:p>
        </p:txBody>
      </p:sp>
      <p:sp>
        <p:nvSpPr>
          <p:cNvPr id="33" name="Rectangle: Rounded Corners 32">
            <a:extLst>
              <a:ext uri="{FF2B5EF4-FFF2-40B4-BE49-F238E27FC236}">
                <a16:creationId xmlns:a16="http://schemas.microsoft.com/office/drawing/2014/main" id="{839C7742-7A89-BA33-E2BC-D222BF1BB285}"/>
              </a:ext>
            </a:extLst>
          </p:cNvPr>
          <p:cNvSpPr/>
          <p:nvPr/>
        </p:nvSpPr>
        <p:spPr>
          <a:xfrm>
            <a:off x="6286500" y="3492500"/>
            <a:ext cx="2603500" cy="508000"/>
          </a:xfrm>
          <a:prstGeom prst="roundRect">
            <a:avLst/>
          </a:prstGeom>
          <a:solidFill>
            <a:srgbClr val="EFF6FF"/>
          </a:solidFill>
          <a:ln w="12700">
            <a:solidFill>
              <a:srgbClr val="BAE6FD"/>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0284C7"/>
                </a:solidFill>
                <a:latin typeface="Segoe UI" panose="020B0502040204020203" pitchFamily="34" charset="0"/>
              </a:rPr>
              <a:t>raw.prices
Schema: PriceSnapshot</a:t>
            </a:r>
          </a:p>
        </p:txBody>
      </p:sp>
      <p:sp>
        <p:nvSpPr>
          <p:cNvPr id="34" name="Rectangle: Rounded Corners 33">
            <a:extLst>
              <a:ext uri="{FF2B5EF4-FFF2-40B4-BE49-F238E27FC236}">
                <a16:creationId xmlns:a16="http://schemas.microsoft.com/office/drawing/2014/main" id="{C20FEE54-7986-555B-3187-4F1EBC31CF5E}"/>
              </a:ext>
            </a:extLst>
          </p:cNvPr>
          <p:cNvSpPr/>
          <p:nvPr/>
        </p:nvSpPr>
        <p:spPr>
          <a:xfrm>
            <a:off x="9080500" y="3492500"/>
            <a:ext cx="2603500" cy="508000"/>
          </a:xfrm>
          <a:prstGeom prst="roundRect">
            <a:avLst/>
          </a:prstGeom>
          <a:solidFill>
            <a:srgbClr val="F5F3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vi-VN" sz="950" b="1">
                <a:solidFill>
                  <a:srgbClr val="7C3AED"/>
                </a:solidFill>
                <a:latin typeface="Segoe UI" panose="020B0502040204020203" pitchFamily="34" charset="0"/>
              </a:rPr>
              <a:t>raw.events
Schema: SystemAudit</a:t>
            </a:r>
          </a:p>
        </p:txBody>
      </p:sp>
      <p:sp>
        <p:nvSpPr>
          <p:cNvPr id="35" name="Rectangle: Rounded Corners 34">
            <a:extLst>
              <a:ext uri="{FF2B5EF4-FFF2-40B4-BE49-F238E27FC236}">
                <a16:creationId xmlns:a16="http://schemas.microsoft.com/office/drawing/2014/main" id="{0923C38D-C134-D3A0-1633-92BD1BE0E429}"/>
              </a:ext>
            </a:extLst>
          </p:cNvPr>
          <p:cNvSpPr/>
          <p:nvPr/>
        </p:nvSpPr>
        <p:spPr>
          <a:xfrm>
            <a:off x="381000" y="4216400"/>
            <a:ext cx="11430000" cy="1930400"/>
          </a:xfrm>
          <a:prstGeom prst="roundRect">
            <a:avLst/>
          </a:prstGeom>
          <a:solidFill>
            <a:srgbClr val="FFFFFF"/>
          </a:solidFill>
          <a:ln w="1524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6" name="Rectangle 35">
            <a:extLst>
              <a:ext uri="{FF2B5EF4-FFF2-40B4-BE49-F238E27FC236}">
                <a16:creationId xmlns:a16="http://schemas.microsoft.com/office/drawing/2014/main" id="{41B08B8E-3643-B213-D523-D65ED2401C3F}"/>
              </a:ext>
            </a:extLst>
          </p:cNvPr>
          <p:cNvSpPr/>
          <p:nvPr/>
        </p:nvSpPr>
        <p:spPr>
          <a:xfrm>
            <a:off x="381000" y="4216400"/>
            <a:ext cx="11430000" cy="355600"/>
          </a:xfrm>
          <a:prstGeom prst="rect">
            <a:avLst/>
          </a:prstGeom>
          <a:solidFill>
            <a:srgbClr val="BA0C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7" name="TextBox 36">
            <a:extLst>
              <a:ext uri="{FF2B5EF4-FFF2-40B4-BE49-F238E27FC236}">
                <a16:creationId xmlns:a16="http://schemas.microsoft.com/office/drawing/2014/main" id="{28B1ECD9-9D63-FACB-2302-F8C0EF1F6421}"/>
              </a:ext>
            </a:extLst>
          </p:cNvPr>
          <p:cNvSpPr txBox="1"/>
          <p:nvPr/>
        </p:nvSpPr>
        <p:spPr>
          <a:xfrm>
            <a:off x="508000" y="4267200"/>
            <a:ext cx="11176000" cy="220573"/>
          </a:xfrm>
          <a:prstGeom prst="rect">
            <a:avLst/>
          </a:prstGeom>
          <a:noFill/>
        </p:spPr>
        <p:txBody>
          <a:bodyPr vert="horz" wrap="square" lIns="25400" tIns="25400" rIns="25400" bIns="25400" rtlCol="0">
            <a:spAutoFit/>
          </a:bodyPr>
          <a:lstStyle/>
          <a:p>
            <a:pPr algn="ctr"/>
            <a:r>
              <a:rPr lang="vi-VN" sz="1100" b="1" dirty="0">
                <a:solidFill>
                  <a:srgbClr val="FFFFFF"/>
                </a:solidFill>
                <a:latin typeface="Segoe UI" panose="020B0502040204020203" pitchFamily="34" charset="0"/>
              </a:rPr>
              <a:t>5.4. STANDARD MESSAGE ENVELOPE &amp; CƠ CHẾ DEDUPLICATION</a:t>
            </a:r>
          </a:p>
        </p:txBody>
      </p:sp>
      <p:sp>
        <p:nvSpPr>
          <p:cNvPr id="38" name="Rectangle: Rounded Corners 37">
            <a:extLst>
              <a:ext uri="{FF2B5EF4-FFF2-40B4-BE49-F238E27FC236}">
                <a16:creationId xmlns:a16="http://schemas.microsoft.com/office/drawing/2014/main" id="{37063ABD-1275-F033-0F7A-105AD9874803}"/>
              </a:ext>
            </a:extLst>
          </p:cNvPr>
          <p:cNvSpPr/>
          <p:nvPr/>
        </p:nvSpPr>
        <p:spPr>
          <a:xfrm>
            <a:off x="533400" y="4673600"/>
            <a:ext cx="1752600" cy="660400"/>
          </a:xfrm>
          <a:prstGeom prst="roundRect">
            <a:avLst/>
          </a:prstGeom>
          <a:solidFill>
            <a:srgbClr val="F8FAFC"/>
          </a:solidFill>
          <a:ln w="15240">
            <a:solidFill>
              <a:srgbClr val="BA0C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9" name="TextBox 38">
            <a:extLst>
              <a:ext uri="{FF2B5EF4-FFF2-40B4-BE49-F238E27FC236}">
                <a16:creationId xmlns:a16="http://schemas.microsoft.com/office/drawing/2014/main" id="{489626EA-18DF-9D9D-E93A-BB741093B78B}"/>
              </a:ext>
            </a:extLst>
          </p:cNvPr>
          <p:cNvSpPr txBox="1"/>
          <p:nvPr/>
        </p:nvSpPr>
        <p:spPr>
          <a:xfrm>
            <a:off x="584200" y="4724400"/>
            <a:ext cx="1651000" cy="212879"/>
          </a:xfrm>
          <a:prstGeom prst="rect">
            <a:avLst/>
          </a:prstGeom>
          <a:noFill/>
        </p:spPr>
        <p:txBody>
          <a:bodyPr vert="horz" wrap="square" lIns="25400" tIns="25400" rIns="25400" bIns="25400" rtlCol="0">
            <a:spAutoFit/>
          </a:bodyPr>
          <a:lstStyle/>
          <a:p>
            <a:pPr algn="ctr"/>
            <a:r>
              <a:rPr lang="vi-VN" sz="1050" b="1">
                <a:solidFill>
                  <a:srgbClr val="BA0C2F"/>
                </a:solidFill>
                <a:latin typeface="Segoe UI" panose="020B0502040204020203" pitchFamily="34" charset="0"/>
              </a:rPr>
              <a:t>event_id</a:t>
            </a:r>
          </a:p>
        </p:txBody>
      </p:sp>
      <p:sp>
        <p:nvSpPr>
          <p:cNvPr id="40" name="TextBox 39">
            <a:extLst>
              <a:ext uri="{FF2B5EF4-FFF2-40B4-BE49-F238E27FC236}">
                <a16:creationId xmlns:a16="http://schemas.microsoft.com/office/drawing/2014/main" id="{5A48798B-E903-F987-1F1E-BC1456082BDD}"/>
              </a:ext>
            </a:extLst>
          </p:cNvPr>
          <p:cNvSpPr txBox="1"/>
          <p:nvPr/>
        </p:nvSpPr>
        <p:spPr>
          <a:xfrm>
            <a:off x="584200" y="4978400"/>
            <a:ext cx="1651000" cy="303673"/>
          </a:xfrm>
          <a:prstGeom prst="rect">
            <a:avLst/>
          </a:prstGeom>
          <a:noFill/>
        </p:spPr>
        <p:txBody>
          <a:bodyPr vert="horz" wrap="square" lIns="25400" tIns="25400" rIns="25400" bIns="25400" rtlCol="0">
            <a:spAutoFit/>
          </a:bodyPr>
          <a:lstStyle/>
          <a:p>
            <a:pPr algn="ctr"/>
            <a:r>
              <a:rPr lang="vi-VN" sz="820">
                <a:solidFill>
                  <a:srgbClr val="475569"/>
                </a:solidFill>
                <a:latin typeface="Segoe UI" panose="020B0502040204020203" pitchFamily="34" charset="0"/>
              </a:rPr>
              <a:t>Mã định danh duy nhất (UUID/Hash)</a:t>
            </a:r>
          </a:p>
        </p:txBody>
      </p:sp>
      <p:sp>
        <p:nvSpPr>
          <p:cNvPr id="41" name="Rectangle: Rounded Corners 40">
            <a:extLst>
              <a:ext uri="{FF2B5EF4-FFF2-40B4-BE49-F238E27FC236}">
                <a16:creationId xmlns:a16="http://schemas.microsoft.com/office/drawing/2014/main" id="{A48666DF-80B1-809F-C3DC-6020984E5B3F}"/>
              </a:ext>
            </a:extLst>
          </p:cNvPr>
          <p:cNvSpPr/>
          <p:nvPr/>
        </p:nvSpPr>
        <p:spPr>
          <a:xfrm>
            <a:off x="2374900" y="4673600"/>
            <a:ext cx="1752600" cy="660400"/>
          </a:xfrm>
          <a:prstGeom prst="roundRect">
            <a:avLst/>
          </a:prstGeom>
          <a:solidFill>
            <a:srgbClr val="F8FAFC"/>
          </a:solidFill>
          <a:ln w="15240">
            <a:solidFill>
              <a:srgbClr val="D9770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2" name="TextBox 41">
            <a:extLst>
              <a:ext uri="{FF2B5EF4-FFF2-40B4-BE49-F238E27FC236}">
                <a16:creationId xmlns:a16="http://schemas.microsoft.com/office/drawing/2014/main" id="{71D138E6-5D65-757B-04BD-AE4F52BFBFC7}"/>
              </a:ext>
            </a:extLst>
          </p:cNvPr>
          <p:cNvSpPr txBox="1"/>
          <p:nvPr/>
        </p:nvSpPr>
        <p:spPr>
          <a:xfrm>
            <a:off x="2425700" y="4724400"/>
            <a:ext cx="1651000" cy="212879"/>
          </a:xfrm>
          <a:prstGeom prst="rect">
            <a:avLst/>
          </a:prstGeom>
          <a:noFill/>
        </p:spPr>
        <p:txBody>
          <a:bodyPr vert="horz" wrap="square" lIns="25400" tIns="25400" rIns="25400" bIns="25400" rtlCol="0">
            <a:spAutoFit/>
          </a:bodyPr>
          <a:lstStyle/>
          <a:p>
            <a:pPr algn="ctr"/>
            <a:r>
              <a:rPr lang="vi-VN" sz="1050" b="1">
                <a:solidFill>
                  <a:srgbClr val="D97706"/>
                </a:solidFill>
                <a:latin typeface="Segoe UI" panose="020B0502040204020203" pitchFamily="34" charset="0"/>
              </a:rPr>
              <a:t>source</a:t>
            </a:r>
          </a:p>
        </p:txBody>
      </p:sp>
      <p:sp>
        <p:nvSpPr>
          <p:cNvPr id="43" name="TextBox 42">
            <a:extLst>
              <a:ext uri="{FF2B5EF4-FFF2-40B4-BE49-F238E27FC236}">
                <a16:creationId xmlns:a16="http://schemas.microsoft.com/office/drawing/2014/main" id="{A96D4874-510B-838A-1F5D-0CAFAF2BE122}"/>
              </a:ext>
            </a:extLst>
          </p:cNvPr>
          <p:cNvSpPr txBox="1"/>
          <p:nvPr/>
        </p:nvSpPr>
        <p:spPr>
          <a:xfrm>
            <a:off x="2425700" y="4978400"/>
            <a:ext cx="1651000" cy="177484"/>
          </a:xfrm>
          <a:prstGeom prst="rect">
            <a:avLst/>
          </a:prstGeom>
          <a:noFill/>
        </p:spPr>
        <p:txBody>
          <a:bodyPr vert="horz" wrap="square" lIns="25400" tIns="25400" rIns="25400" bIns="25400" rtlCol="0">
            <a:spAutoFit/>
          </a:bodyPr>
          <a:lstStyle/>
          <a:p>
            <a:pPr algn="ctr"/>
            <a:r>
              <a:rPr lang="vi-VN" sz="820">
                <a:solidFill>
                  <a:srgbClr val="475569"/>
                </a:solidFill>
                <a:latin typeface="Segoe UI" panose="020B0502040204020203" pitchFamily="34" charset="0"/>
              </a:rPr>
              <a:t>Nguồn: tiki_api / crawler...</a:t>
            </a:r>
          </a:p>
        </p:txBody>
      </p:sp>
      <p:sp>
        <p:nvSpPr>
          <p:cNvPr id="44" name="Rectangle: Rounded Corners 43">
            <a:extLst>
              <a:ext uri="{FF2B5EF4-FFF2-40B4-BE49-F238E27FC236}">
                <a16:creationId xmlns:a16="http://schemas.microsoft.com/office/drawing/2014/main" id="{C335BE1F-6414-2694-8F34-BFC2B5CBFA81}"/>
              </a:ext>
            </a:extLst>
          </p:cNvPr>
          <p:cNvSpPr/>
          <p:nvPr/>
        </p:nvSpPr>
        <p:spPr>
          <a:xfrm>
            <a:off x="4216400" y="4673600"/>
            <a:ext cx="1752600" cy="660400"/>
          </a:xfrm>
          <a:prstGeom prst="roundRect">
            <a:avLst/>
          </a:prstGeom>
          <a:solidFill>
            <a:srgbClr val="F8FAFC"/>
          </a:solidFill>
          <a:ln w="1524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5" name="TextBox 44">
            <a:extLst>
              <a:ext uri="{FF2B5EF4-FFF2-40B4-BE49-F238E27FC236}">
                <a16:creationId xmlns:a16="http://schemas.microsoft.com/office/drawing/2014/main" id="{4BDF904A-C71C-F9FF-0266-C75233217C5A}"/>
              </a:ext>
            </a:extLst>
          </p:cNvPr>
          <p:cNvSpPr txBox="1"/>
          <p:nvPr/>
        </p:nvSpPr>
        <p:spPr>
          <a:xfrm>
            <a:off x="4267200" y="4724400"/>
            <a:ext cx="1651000" cy="212879"/>
          </a:xfrm>
          <a:prstGeom prst="rect">
            <a:avLst/>
          </a:prstGeom>
          <a:noFill/>
        </p:spPr>
        <p:txBody>
          <a:bodyPr vert="horz" wrap="square" lIns="25400" tIns="25400" rIns="25400" bIns="25400" rtlCol="0">
            <a:spAutoFit/>
          </a:bodyPr>
          <a:lstStyle/>
          <a:p>
            <a:pPr algn="ctr"/>
            <a:r>
              <a:rPr lang="vi-VN" sz="1050" b="1">
                <a:solidFill>
                  <a:srgbClr val="1E293B"/>
                </a:solidFill>
                <a:latin typeface="Segoe UI" panose="020B0502040204020203" pitchFamily="34" charset="0"/>
              </a:rPr>
              <a:t>entity_type</a:t>
            </a:r>
          </a:p>
        </p:txBody>
      </p:sp>
      <p:sp>
        <p:nvSpPr>
          <p:cNvPr id="46" name="TextBox 45">
            <a:extLst>
              <a:ext uri="{FF2B5EF4-FFF2-40B4-BE49-F238E27FC236}">
                <a16:creationId xmlns:a16="http://schemas.microsoft.com/office/drawing/2014/main" id="{A1D97B68-B8ED-6086-F4B8-E3AD2EC3A1E7}"/>
              </a:ext>
            </a:extLst>
          </p:cNvPr>
          <p:cNvSpPr txBox="1"/>
          <p:nvPr/>
        </p:nvSpPr>
        <p:spPr>
          <a:xfrm>
            <a:off x="4267200" y="4978400"/>
            <a:ext cx="1651000" cy="177484"/>
          </a:xfrm>
          <a:prstGeom prst="rect">
            <a:avLst/>
          </a:prstGeom>
          <a:noFill/>
        </p:spPr>
        <p:txBody>
          <a:bodyPr vert="horz" wrap="square" lIns="25400" tIns="25400" rIns="25400" bIns="25400" rtlCol="0">
            <a:spAutoFit/>
          </a:bodyPr>
          <a:lstStyle/>
          <a:p>
            <a:pPr algn="ctr"/>
            <a:r>
              <a:rPr lang="vi-VN" sz="820">
                <a:solidFill>
                  <a:srgbClr val="475569"/>
                </a:solidFill>
                <a:latin typeface="Segoe UI" panose="020B0502040204020203" pitchFamily="34" charset="0"/>
              </a:rPr>
              <a:t>Loại: product/review/price</a:t>
            </a:r>
          </a:p>
        </p:txBody>
      </p:sp>
      <p:sp>
        <p:nvSpPr>
          <p:cNvPr id="47" name="Rectangle: Rounded Corners 46">
            <a:extLst>
              <a:ext uri="{FF2B5EF4-FFF2-40B4-BE49-F238E27FC236}">
                <a16:creationId xmlns:a16="http://schemas.microsoft.com/office/drawing/2014/main" id="{1FC68848-50DA-0488-B287-AB73F26CD1FF}"/>
              </a:ext>
            </a:extLst>
          </p:cNvPr>
          <p:cNvSpPr/>
          <p:nvPr/>
        </p:nvSpPr>
        <p:spPr>
          <a:xfrm>
            <a:off x="6057900" y="4673600"/>
            <a:ext cx="1752600" cy="660400"/>
          </a:xfrm>
          <a:prstGeom prst="roundRect">
            <a:avLst/>
          </a:prstGeom>
          <a:solidFill>
            <a:srgbClr val="F8FAFC"/>
          </a:solidFill>
          <a:ln w="1524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8" name="TextBox 47">
            <a:extLst>
              <a:ext uri="{FF2B5EF4-FFF2-40B4-BE49-F238E27FC236}">
                <a16:creationId xmlns:a16="http://schemas.microsoft.com/office/drawing/2014/main" id="{D22E5968-06C6-7D4E-7D4A-C21708F90906}"/>
              </a:ext>
            </a:extLst>
          </p:cNvPr>
          <p:cNvSpPr txBox="1"/>
          <p:nvPr/>
        </p:nvSpPr>
        <p:spPr>
          <a:xfrm>
            <a:off x="6108700" y="4724400"/>
            <a:ext cx="1651000" cy="212879"/>
          </a:xfrm>
          <a:prstGeom prst="rect">
            <a:avLst/>
          </a:prstGeom>
          <a:noFill/>
        </p:spPr>
        <p:txBody>
          <a:bodyPr vert="horz" wrap="square" lIns="25400" tIns="25400" rIns="25400" bIns="25400" rtlCol="0">
            <a:spAutoFit/>
          </a:bodyPr>
          <a:lstStyle/>
          <a:p>
            <a:pPr algn="ctr"/>
            <a:r>
              <a:rPr lang="vi-VN" sz="1050" b="1">
                <a:solidFill>
                  <a:srgbClr val="0284C7"/>
                </a:solidFill>
                <a:latin typeface="Segoe UI" panose="020B0502040204020203" pitchFamily="34" charset="0"/>
              </a:rPr>
              <a:t>entity_id</a:t>
            </a:r>
          </a:p>
        </p:txBody>
      </p:sp>
      <p:sp>
        <p:nvSpPr>
          <p:cNvPr id="49" name="TextBox 48">
            <a:extLst>
              <a:ext uri="{FF2B5EF4-FFF2-40B4-BE49-F238E27FC236}">
                <a16:creationId xmlns:a16="http://schemas.microsoft.com/office/drawing/2014/main" id="{C65CFE12-17E4-77BE-DFCE-68C655D91FEB}"/>
              </a:ext>
            </a:extLst>
          </p:cNvPr>
          <p:cNvSpPr txBox="1"/>
          <p:nvPr/>
        </p:nvSpPr>
        <p:spPr>
          <a:xfrm>
            <a:off x="6108700" y="4978400"/>
            <a:ext cx="1651000" cy="177484"/>
          </a:xfrm>
          <a:prstGeom prst="rect">
            <a:avLst/>
          </a:prstGeom>
          <a:noFill/>
        </p:spPr>
        <p:txBody>
          <a:bodyPr vert="horz" wrap="square" lIns="25400" tIns="25400" rIns="25400" bIns="25400" rtlCol="0">
            <a:spAutoFit/>
          </a:bodyPr>
          <a:lstStyle/>
          <a:p>
            <a:pPr algn="ctr"/>
            <a:r>
              <a:rPr lang="vi-VN" sz="820">
                <a:solidFill>
                  <a:srgbClr val="475569"/>
                </a:solidFill>
                <a:latin typeface="Segoe UI" panose="020B0502040204020203" pitchFamily="34" charset="0"/>
              </a:rPr>
              <a:t>ID thực thể nghiệp vụ</a:t>
            </a:r>
          </a:p>
        </p:txBody>
      </p:sp>
      <p:sp>
        <p:nvSpPr>
          <p:cNvPr id="50" name="Rectangle: Rounded Corners 49">
            <a:extLst>
              <a:ext uri="{FF2B5EF4-FFF2-40B4-BE49-F238E27FC236}">
                <a16:creationId xmlns:a16="http://schemas.microsoft.com/office/drawing/2014/main" id="{4C85BD21-E08B-134C-D503-46DC7A933B15}"/>
              </a:ext>
            </a:extLst>
          </p:cNvPr>
          <p:cNvSpPr/>
          <p:nvPr/>
        </p:nvSpPr>
        <p:spPr>
          <a:xfrm>
            <a:off x="7899400" y="4673600"/>
            <a:ext cx="1752600" cy="660400"/>
          </a:xfrm>
          <a:prstGeom prst="roundRect">
            <a:avLst/>
          </a:prstGeom>
          <a:solidFill>
            <a:srgbClr val="F8FAFC"/>
          </a:solidFill>
          <a:ln w="15240">
            <a:solidFill>
              <a:srgbClr val="7C3A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1" name="TextBox 50">
            <a:extLst>
              <a:ext uri="{FF2B5EF4-FFF2-40B4-BE49-F238E27FC236}">
                <a16:creationId xmlns:a16="http://schemas.microsoft.com/office/drawing/2014/main" id="{412484D9-CD41-3194-4BED-B17845999F17}"/>
              </a:ext>
            </a:extLst>
          </p:cNvPr>
          <p:cNvSpPr txBox="1"/>
          <p:nvPr/>
        </p:nvSpPr>
        <p:spPr>
          <a:xfrm>
            <a:off x="7950200" y="4724400"/>
            <a:ext cx="1651000" cy="212879"/>
          </a:xfrm>
          <a:prstGeom prst="rect">
            <a:avLst/>
          </a:prstGeom>
          <a:noFill/>
        </p:spPr>
        <p:txBody>
          <a:bodyPr vert="horz" wrap="square" lIns="25400" tIns="25400" rIns="25400" bIns="25400" rtlCol="0">
            <a:spAutoFit/>
          </a:bodyPr>
          <a:lstStyle/>
          <a:p>
            <a:pPr algn="ctr"/>
            <a:r>
              <a:rPr lang="vi-VN" sz="1050" b="1">
                <a:solidFill>
                  <a:srgbClr val="7C3AED"/>
                </a:solidFill>
                <a:latin typeface="Segoe UI" panose="020B0502040204020203" pitchFamily="34" charset="0"/>
              </a:rPr>
              <a:t>event_time</a:t>
            </a:r>
          </a:p>
        </p:txBody>
      </p:sp>
      <p:sp>
        <p:nvSpPr>
          <p:cNvPr id="52" name="TextBox 51">
            <a:extLst>
              <a:ext uri="{FF2B5EF4-FFF2-40B4-BE49-F238E27FC236}">
                <a16:creationId xmlns:a16="http://schemas.microsoft.com/office/drawing/2014/main" id="{CEA0A0A4-4212-524E-14F0-8AF1C151A2F2}"/>
              </a:ext>
            </a:extLst>
          </p:cNvPr>
          <p:cNvSpPr txBox="1"/>
          <p:nvPr/>
        </p:nvSpPr>
        <p:spPr>
          <a:xfrm>
            <a:off x="7950200" y="4978400"/>
            <a:ext cx="1651000" cy="177484"/>
          </a:xfrm>
          <a:prstGeom prst="rect">
            <a:avLst/>
          </a:prstGeom>
          <a:noFill/>
        </p:spPr>
        <p:txBody>
          <a:bodyPr vert="horz" wrap="square" lIns="25400" tIns="25400" rIns="25400" bIns="25400" rtlCol="0">
            <a:spAutoFit/>
          </a:bodyPr>
          <a:lstStyle/>
          <a:p>
            <a:pPr algn="ctr"/>
            <a:r>
              <a:rPr lang="vi-VN" sz="820">
                <a:solidFill>
                  <a:srgbClr val="475569"/>
                </a:solidFill>
                <a:latin typeface="Segoe UI" panose="020B0502040204020203" pitchFamily="34" charset="0"/>
              </a:rPr>
              <a:t>Thời gian (ISO-8601 UTC)</a:t>
            </a:r>
          </a:p>
        </p:txBody>
      </p:sp>
      <p:sp>
        <p:nvSpPr>
          <p:cNvPr id="53" name="Rectangle: Rounded Corners 52">
            <a:extLst>
              <a:ext uri="{FF2B5EF4-FFF2-40B4-BE49-F238E27FC236}">
                <a16:creationId xmlns:a16="http://schemas.microsoft.com/office/drawing/2014/main" id="{DA062C66-03D1-1081-0639-F4DA587877EF}"/>
              </a:ext>
            </a:extLst>
          </p:cNvPr>
          <p:cNvSpPr/>
          <p:nvPr/>
        </p:nvSpPr>
        <p:spPr>
          <a:xfrm>
            <a:off x="9740900" y="4673600"/>
            <a:ext cx="1752600" cy="660400"/>
          </a:xfrm>
          <a:prstGeom prst="roundRect">
            <a:avLst/>
          </a:prstGeom>
          <a:solidFill>
            <a:srgbClr val="F8FAFC"/>
          </a:solidFill>
          <a:ln w="1524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4" name="TextBox 53">
            <a:extLst>
              <a:ext uri="{FF2B5EF4-FFF2-40B4-BE49-F238E27FC236}">
                <a16:creationId xmlns:a16="http://schemas.microsoft.com/office/drawing/2014/main" id="{6689EF2A-760F-7397-BAE3-C39195254324}"/>
              </a:ext>
            </a:extLst>
          </p:cNvPr>
          <p:cNvSpPr txBox="1"/>
          <p:nvPr/>
        </p:nvSpPr>
        <p:spPr>
          <a:xfrm>
            <a:off x="9791700" y="4724400"/>
            <a:ext cx="1651000" cy="212879"/>
          </a:xfrm>
          <a:prstGeom prst="rect">
            <a:avLst/>
          </a:prstGeom>
          <a:noFill/>
        </p:spPr>
        <p:txBody>
          <a:bodyPr vert="horz" wrap="square" lIns="25400" tIns="25400" rIns="25400" bIns="25400" rtlCol="0">
            <a:spAutoFit/>
          </a:bodyPr>
          <a:lstStyle/>
          <a:p>
            <a:pPr algn="ctr"/>
            <a:r>
              <a:rPr lang="vi-VN" sz="1050" b="1">
                <a:solidFill>
                  <a:srgbClr val="10B981"/>
                </a:solidFill>
                <a:latin typeface="Segoe UI" panose="020B0502040204020203" pitchFamily="34" charset="0"/>
              </a:rPr>
              <a:t>payload</a:t>
            </a:r>
          </a:p>
        </p:txBody>
      </p:sp>
      <p:sp>
        <p:nvSpPr>
          <p:cNvPr id="55" name="TextBox 54">
            <a:extLst>
              <a:ext uri="{FF2B5EF4-FFF2-40B4-BE49-F238E27FC236}">
                <a16:creationId xmlns:a16="http://schemas.microsoft.com/office/drawing/2014/main" id="{58D0DB4C-2D72-D5DE-73B6-C10AE130B065}"/>
              </a:ext>
            </a:extLst>
          </p:cNvPr>
          <p:cNvSpPr txBox="1"/>
          <p:nvPr/>
        </p:nvSpPr>
        <p:spPr>
          <a:xfrm>
            <a:off x="9791700" y="4978400"/>
            <a:ext cx="1651000" cy="177484"/>
          </a:xfrm>
          <a:prstGeom prst="rect">
            <a:avLst/>
          </a:prstGeom>
          <a:noFill/>
        </p:spPr>
        <p:txBody>
          <a:bodyPr vert="horz" wrap="square" lIns="25400" tIns="25400" rIns="25400" bIns="25400" rtlCol="0">
            <a:spAutoFit/>
          </a:bodyPr>
          <a:lstStyle/>
          <a:p>
            <a:pPr algn="ctr"/>
            <a:r>
              <a:rPr lang="it-IT" sz="820">
                <a:solidFill>
                  <a:srgbClr val="475569"/>
                </a:solidFill>
                <a:latin typeface="Segoe UI" panose="020B0502040204020203" pitchFamily="34" charset="0"/>
              </a:rPr>
              <a:t>Dữ liệu JSON chi tiết</a:t>
            </a:r>
            <a:endParaRPr lang="vi-VN" sz="820">
              <a:solidFill>
                <a:srgbClr val="475569"/>
              </a:solidFill>
              <a:latin typeface="Segoe UI" panose="020B0502040204020203" pitchFamily="34" charset="0"/>
            </a:endParaRPr>
          </a:p>
        </p:txBody>
      </p:sp>
    </p:spTree>
    <p:extLst>
      <p:ext uri="{BB962C8B-B14F-4D97-AF65-F5344CB8AC3E}">
        <p14:creationId xmlns:p14="http://schemas.microsoft.com/office/powerpoint/2010/main" val="381605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080000" y="952500"/>
            <a:ext cx="6604000"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400">
                <a:solidFill>
                  <a:srgbClr val="BA0C2F"/>
                </a:solidFill>
                <a:latin typeface="Segoe UI" panose="020B0502040204020203" pitchFamily="34" charset="0"/>
              </a:rPr>
              <a:t>THANK YOU !</a:t>
            </a:r>
            <a:endParaRPr lang="en-US" sz="4400" dirty="0">
              <a:solidFill>
                <a:srgbClr val="BA0C2F"/>
              </a:solidFill>
              <a:latin typeface="Segoe UI" panose="020B0502040204020203" pitchFamily="34" charset="0"/>
            </a:endParaRP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r>
              <a:rPr lang="en-US">
                <a:solidFill>
                  <a:srgbClr val="BA0C2F"/>
                </a:solidFill>
                <a:latin typeface="Segoe UI" panose="020B0502040204020203" pitchFamily="34" charset="0"/>
              </a:rPr>
              <a:t>7</a:t>
            </a:r>
          </a:p>
        </p:txBody>
      </p:sp>
      <p:sp>
        <p:nvSpPr>
          <p:cNvPr id="4" name="TextBox 3">
            <a:extLst>
              <a:ext uri="{FF2B5EF4-FFF2-40B4-BE49-F238E27FC236}">
                <a16:creationId xmlns:a16="http://schemas.microsoft.com/office/drawing/2014/main" id="{01F6A456-83F9-8845-32A3-47E3DE8ACCC7}"/>
              </a:ext>
            </a:extLst>
          </p:cNvPr>
          <p:cNvSpPr txBox="1"/>
          <p:nvPr/>
        </p:nvSpPr>
        <p:spPr>
          <a:xfrm>
            <a:off x="5080000" y="1752600"/>
            <a:ext cx="6604000" cy="297517"/>
          </a:xfrm>
          <a:prstGeom prst="rect">
            <a:avLst/>
          </a:prstGeom>
          <a:noFill/>
        </p:spPr>
        <p:txBody>
          <a:bodyPr vert="horz" wrap="square" lIns="25400" tIns="25400" rIns="25400" bIns="25400" rtlCol="0">
            <a:spAutoFit/>
          </a:bodyPr>
          <a:lstStyle/>
          <a:p>
            <a:r>
              <a:rPr lang="vi-VN" sz="1600" b="1">
                <a:solidFill>
                  <a:srgbClr val="1E293B"/>
                </a:solidFill>
                <a:latin typeface="Segoe UI" panose="020B0502040204020203" pitchFamily="34" charset="0"/>
              </a:rPr>
              <a:t>CẢM ƠN THẦY CÔ VÀ CÁC BẠN ĐÃ LẮNG NGHE !</a:t>
            </a:r>
          </a:p>
        </p:txBody>
      </p:sp>
      <p:cxnSp>
        <p:nvCxnSpPr>
          <p:cNvPr id="5" name="Straight Connector 4">
            <a:extLst>
              <a:ext uri="{FF2B5EF4-FFF2-40B4-BE49-F238E27FC236}">
                <a16:creationId xmlns:a16="http://schemas.microsoft.com/office/drawing/2014/main" id="{B38B14EE-FF82-C8D3-E52D-ECC3425152A1}"/>
              </a:ext>
            </a:extLst>
          </p:cNvPr>
          <p:cNvCxnSpPr/>
          <p:nvPr/>
        </p:nvCxnSpPr>
        <p:spPr>
          <a:xfrm>
            <a:off x="5080000" y="2260600"/>
            <a:ext cx="6350000" cy="0"/>
          </a:xfrm>
          <a:prstGeom prst="line">
            <a:avLst/>
          </a:prstGeom>
          <a:ln w="25400">
            <a:solidFill>
              <a:srgbClr val="BA0C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1874</Words>
  <Application>Microsoft Office PowerPoint</Application>
  <PresentationFormat>Widescreen</PresentationFormat>
  <Paragraphs>121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Lato</vt:lpstr>
      <vt:lpstr>Segoe UI</vt:lpstr>
      <vt:lpstr>Office Theme</vt:lpstr>
      <vt:lpstr>PowerPoint Presentation</vt:lpstr>
      <vt:lpstr>2. ĐẶT VẤN ĐỀ &amp; BÀI TOÁN CẦN GIẢI QUYẾT</vt:lpstr>
      <vt:lpstr>3. CÔNG NGHỆ SỬ DỤNG (TECH STACK)</vt:lpstr>
      <vt:lpstr>4. KIẾN TRÚC TỔNG THỂ HỆ THỐNG</vt:lpstr>
      <vt:lpstr>5. DỮ LIỆU ĐẦU VÀO &amp; NGUỒN THU THẬP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Phan Trong Dat 20235033</cp:lastModifiedBy>
  <cp:revision>12</cp:revision>
  <dcterms:created xsi:type="dcterms:W3CDTF">2021-05-28T04:32:29Z</dcterms:created>
  <dcterms:modified xsi:type="dcterms:W3CDTF">2026-10-14T02:43:27Z</dcterms:modified>
</cp:coreProperties>
</file>